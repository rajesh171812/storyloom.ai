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SLD-TITLE-01 · CMP-TITLE-01. Brand mark not available (GAP-01) — product name set in plain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SLD-EXEC-SUMMARY-01 · CMP-TITLE-01, CMP-KPI-01, CMP-CALLOUT-01 · ICN-ALERT, ICN-USERS, ICN-CHART. All numbers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SLD-INSIGHT-01 · CMP-INSIGHT-01 (left), CMP-EVIDENCE-01 ×3 (right) · ICN-TARGET. Replace numbers, methods and sample sizes with real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SLD-JOURNEY-01 · CMP-JOURNEY-01, VIZ-JOURNEY-01 (current state). Stage names, actions and pain points are dummy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SLD-QUOTE-01 · CMP-QUOTE-01 ×3 with CMP-CUSTOMER-01 attribution · ICN-QUOTE. GATE-02 exception approved: quotes are placeholders and must be replaced with real verbatims (CMP-QUOTE-01 'never invented'). CMP-PERSONA-01 not used (conditional — no research-backed persona).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SLD-3COL-01 (conditional met: exactly three parallel items, each ≤40 words) · CMP-3COL-01, CMP-INSIGHT-01 · ICN-CLOCK, ICN-QUOTE, ICN-CHECK. Concept name is a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SLD-JOURNEY-01 · CMP-JOURNEY-01, VIZ-JOURNEY-01 (future state). Same stage grid as slide 4 (RULE-11). Channel colours = dataviz 1, 2 and 4 (Email, SMS, RCS).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SLD-MESSAGING-01 (Restricted — GATE-02 exception approved) · MSG-SMS-01 (proposed) + email shown in DEVICE-IPHONE-01 (no email MSG-* pattern exists — approved fallback) · CMP-CALLOUT-01. Screens are empty labelled frames; owner will drop real mockups into the screen area. Never invent clinical/regulated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SLD-MESSAGING-01 (Restricted — GATE-02 exception approved) · MSG-RCS-01 (proposed) on DEVICE-IPHONE-02 as the pattern requires · CMP-CALLOUT-01. Suggested-reply labels are placeholders; final copy from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SLD-KPI-GRID-01 · CMP-METRIC-01 ×4 (number, delta, icon + direction word) · ICN-TREND-UP. All values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SLD-NEXT-STEPS-01 · CMP-NEXTSTEP-01, CMP-TABLE-01. Owners and dates are dummy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D6DBFC"/>
          </a:solidFill>
          <a:ln w="12700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Concept for approval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Cologuard Rescreen Experience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EF0F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new journey concept that brings returning patients back on time through one connected SMS, two-way RCS and email conversation.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4709160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3172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4709160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3405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457200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4709160"/>
            <a:ext cx="146304" cy="146304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8576" y="45720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 RCS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0F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Leadership review · September 2026 · Owner: Rajesh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connected rescreen conversation can bring more returning patients back on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075688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38%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of patients due for rescreen don't complete it within 90 days of their due date.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07738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58" y="20574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93538" y="2075688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CONCEPT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582058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→ 1</a:t>
            </a:r>
            <a:endParaRPr lang="en-US" sz="4200" dirty="0"/>
          </a:p>
        </p:txBody>
      </p:sp>
      <p:sp>
        <p:nvSpPr>
          <p:cNvPr id="15" name="Text 11"/>
          <p:cNvSpPr txBox="1"/>
          <p:nvPr/>
        </p:nvSpPr>
        <p:spPr>
          <a:xfrm>
            <a:off x="4582058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Email, SMS and two-way RCS work as one conversation that we start — not three separate reminders.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58277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0574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44077" y="2075688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IMPACT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8432597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+12 pts</a:t>
            </a:r>
            <a:endParaRPr lang="en-US" sz="4200" dirty="0"/>
          </a:p>
        </p:txBody>
      </p:sp>
      <p:sp>
        <p:nvSpPr>
          <p:cNvPr id="20" name="Text 15"/>
          <p:cNvSpPr txBox="1"/>
          <p:nvPr/>
        </p:nvSpPr>
        <p:spPr>
          <a:xfrm>
            <a:off x="8432597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projected lift in on-time rescreen, with fewer steps for the patient to reorder.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57200" y="4846320"/>
            <a:ext cx="11277295" cy="1234440"/>
          </a:xfrm>
          <a:prstGeom prst="roundRect">
            <a:avLst>
              <a:gd name="adj" fmla="val 7407"/>
            </a:avLst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523036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D6DBFC"/>
          </a:solidFill>
          <a:ln w="12700">
            <a:solidFill>
              <a:srgbClr val="D6DBF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5230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2194560" y="484632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Approve a 90-day pilot of the rescreen journey with [pilot segment] in [market], and [budget / resources placeholder].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[placeholder] · Dummy data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RESCREEN GAP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Returning patients trust the test — but lose momentum when rescreen comes due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628A3"/>
          </a:solidFill>
          <a:ln w="12700">
            <a:solidFill>
              <a:srgbClr val="1628A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28051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461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Rescreen isn't a new decision for patients — yet today we treat it like one.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800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1023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we hold the relationship between tests, completing a rescreen should feel like a quick 'yes', not starting over.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897880" y="1783080"/>
            <a:ext cx="5836615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in 3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1984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patients complete rescreen on time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27249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Claims / order data · 2025 cohort · n = [X]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97880" y="3264408"/>
            <a:ext cx="5836615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34472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62%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34655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don't know when their next test is due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4206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Patient survey · online · n = 1,200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897880" y="4745736"/>
            <a:ext cx="5836615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492861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steps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49469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for a patient to reorder a kit today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5687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Journey audit · CX team · 3 channels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[placeholder] · Dummy data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Today, the rescreen journey puts the work on the patient at every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CONTENT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93976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date approaches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41613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629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17265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45281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order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92918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20934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at home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68571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96587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Return &amp; results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317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patient does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65960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93976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Has to remember a date set three years ago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41613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69629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Gets a generic one-way reminder, often missed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17265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45281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Calls or visits the provider to request a new order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92918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20934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Waits for the kit, then fits collection into the week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868571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6587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Ships the kit back and waits for results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5204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65960" y="3520440"/>
            <a:ext cx="976853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98922" y="3980840"/>
            <a:ext cx="1975653" cy="86411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4575" y="4067251"/>
            <a:ext cx="1975653" cy="172822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850228" y="4096055"/>
            <a:ext cx="1975653" cy="144018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8825880" y="4009644"/>
            <a:ext cx="1975653" cy="86411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16626" y="3898544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65960" y="4099712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Unaware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92279" y="3984955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41613" y="4186123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Unsure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67932" y="4157777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17265" y="435894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43584" y="4013759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92918" y="4214927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Hesitant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719237" y="3927348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68571" y="4128516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Relieved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892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965960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093976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proactive signal that rescreen is due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941613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69629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 can't be answered or acted 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917265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45281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Extra step with the provider stalls most patients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892918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20934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status updates after the order is placed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868571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996587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bridge to the next cycle after results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[journey research placeholder]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VOICE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Patients say the hard part isn't the test — it's remembering and restarting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0072" y="38404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20072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PLACEHOLDER QUOTES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 did it three years ago and honestly forgot it was a repeating thing until my doctor brought it up.”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Busy Planner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50–59 · 2nd rescreen · employed full-time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to be reminded early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58" y="20574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82058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 got a text, but I couldn't reply to it — so I just meant to call and never did.”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582058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82058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Willing Delayer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582058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60–69 · overdue by 4 months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82058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19218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to act in the moment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05740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32597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“If you could just send me the kit again, I'd do it. It's the phone calls I avoid.”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8432597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32597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Low-Effort Loyalist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432597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65–75 · 3rd rescreen · retired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432597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569757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Needs fewer steps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[interviews placeholder] · Quotes are placeholders, not verbatims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CONCEPT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Rescreen becomes a conversation we start — not a task patients have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88552" y="384048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D6DBFC"/>
          </a:solidFill>
          <a:ln w="12700">
            <a:solidFill>
              <a:srgbClr val="D6DB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88552" y="3840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Rescreen Connect [name TBC]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03120"/>
            <a:ext cx="658368" cy="658368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8" y="226112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278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remember for them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7240" y="3886200"/>
            <a:ext cx="2936138" cy="868680"/>
          </a:xfrm>
          <a:prstGeom prst="roundRect">
            <a:avLst>
              <a:gd name="adj" fmla="val 842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88620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patient tracks a three-year date on their own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4892040"/>
            <a:ext cx="2936138" cy="960120"/>
          </a:xfrm>
          <a:prstGeom prst="roundRect">
            <a:avLst>
              <a:gd name="adj" fmla="val 7619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892040"/>
            <a:ext cx="2661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reach out ahead of the due date with a personal, timely heads-up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7778" y="2103120"/>
            <a:ext cx="658368" cy="658368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787" y="2261128"/>
            <a:ext cx="342351" cy="34235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2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627778" y="32278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two-way conversation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627778" y="3886200"/>
            <a:ext cx="2936138" cy="868680"/>
          </a:xfrm>
          <a:prstGeom prst="roundRect">
            <a:avLst>
              <a:gd name="adj" fmla="val 842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64938" y="388620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One-way reminders that can't be answered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627778" y="4892040"/>
            <a:ext cx="2936138" cy="960120"/>
          </a:xfrm>
          <a:prstGeom prst="roundRect">
            <a:avLst>
              <a:gd name="adj" fmla="val 7619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764938" y="4892040"/>
            <a:ext cx="2661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Patients reply to confirm, reschedule or ask a question — by SMS or RCS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78317" y="2103120"/>
            <a:ext cx="658368" cy="658368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325" y="2261128"/>
            <a:ext cx="342351" cy="34235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SHIFT 3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478317" y="32278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Fewer steps to reorder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8478317" y="3886200"/>
            <a:ext cx="2936138" cy="868680"/>
          </a:xfrm>
          <a:prstGeom prst="roundRect">
            <a:avLst>
              <a:gd name="adj" fmla="val 842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615477" y="3886200"/>
            <a:ext cx="2661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 the provider, wait for an order, wait for a kit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478317" y="4892040"/>
            <a:ext cx="2936138" cy="960120"/>
          </a:xfrm>
          <a:prstGeom prst="roundRect">
            <a:avLst>
              <a:gd name="adj" fmla="val 7619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615477" y="4892040"/>
            <a:ext cx="26618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 </a:t>
            </a:r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reply starts it; we coordinate the provider order and ship the kit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the future journey, every stage has a clear channel moment and a lighter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CONTENT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93976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Due date approaches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41613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629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17265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45281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order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92918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20934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at home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+3 to +10 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68571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96587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Return &amp; results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+14 days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 moment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65960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93976" y="2487168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13432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rescreen matters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41613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629" y="2487168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89085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Heads-up, reply to start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17265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AA00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5281" y="2487168"/>
            <a:ext cx="146304" cy="146304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4737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00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Two-way: confirm order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92918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0934" y="2487168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40390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Kit shipped + tracking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68571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96587" y="2487168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16043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+ next due date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patient does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965960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93976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Reads why it matters; nothing to do yet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941613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69629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Replies YES — no login, no call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17265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45281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Taps 'Order my kit'; we handle the provider order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92918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20934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Tracks the kit and gets a nudge to collect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868571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96587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Sees results and their next due date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3886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965960" y="3886200"/>
            <a:ext cx="976853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2898922" y="4210263"/>
            <a:ext cx="1975653" cy="5266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874575" y="4153205"/>
            <a:ext cx="1975653" cy="5705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0228" y="4153205"/>
            <a:ext cx="1975653" cy="65837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8825880" y="4131259"/>
            <a:ext cx="1975653" cy="87782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16626" y="4180637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965960" y="438180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Informed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92279" y="4127967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41613" y="432913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767932" y="4070909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17265" y="4272077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control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743584" y="4136746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892918" y="4337914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Supported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719237" y="4048963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868571" y="4250131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Reassured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5074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965960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093976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start the conversation first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3941613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069629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Reminder becomes an action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917265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045281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Provider step removed for the patient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892918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020934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Proactive status fills the gap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9868571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996587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cycle is set up on day one</a:t>
            </a: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Timing and channel mix are illustrative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TOUCHPOINTS · SMS + EMAIL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SMS and email set up the rescreen moment early, before patients have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94392" y="38404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94392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8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MOCKUPS PENDING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8278" y="1790313"/>
            <a:ext cx="2041579" cy="4328482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5438" y="3435136"/>
            <a:ext cx="17672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DEVICE-IPHONE-01</a:t>
            </a:r>
            <a:endParaRPr lang="en-US" sz="1350" dirty="0"/>
          </a:p>
        </p:txBody>
      </p:sp>
      <p:pic>
        <p:nvPicPr>
          <p:cNvPr id="8" name="Image 0" descr="/mnt/user-data/uploads/Devices mockups/A-DEV-IPHONE-01_iphone-15-pro_portrait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26314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14700" y="17373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1860" y="1856232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8046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1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4700" y="2514600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1470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790188" y="24963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790188" y="282549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Reintroduces rescreen as the next step in care they already started.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314700" y="3611880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147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790188" y="359359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clear action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790188" y="392277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Single 'I'm ready' button; no account needed.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3314700" y="4709160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1470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790188" y="469087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Sets expectations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790188" y="502005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Tells them a text is coming, so the SMS feels familiar.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467558" y="1790313"/>
            <a:ext cx="2041579" cy="4328482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04718" y="3435136"/>
            <a:ext cx="17672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MSG-SMS-01</a:t>
            </a:r>
            <a:endParaRPr lang="en-US" sz="1350" dirty="0"/>
          </a:p>
        </p:txBody>
      </p:sp>
      <p:pic>
        <p:nvPicPr>
          <p:cNvPr id="26" name="Image 1" descr="/mnt/user-data/uploads/Devices mockups/A-DEV-IPHONE-01_iphone-15-pro_portrait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2263140" cy="45262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983980" y="17373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121140" y="1856232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34974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1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983980" y="2514600"/>
            <a:ext cx="329184" cy="32918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98398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9459468" y="24963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Reply to start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9459468" y="282549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Patient replies YES to begin the reorder. No login, no call.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8983980" y="3611880"/>
            <a:ext cx="329184" cy="32918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98398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9459468" y="359359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 &amp; timely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9459468" y="392277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Uses first name and due month. Copy from owner.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8983980" y="4709160"/>
            <a:ext cx="329184" cy="32918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98398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9459468" y="469087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Compliant copy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9459468" y="502005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Opt-out and help language per compliance review.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Message copy to be supplied by owner</a:t>
            </a:r>
            <a:endParaRPr lang="en-US" sz="1050" dirty="0"/>
          </a:p>
        </p:txBody>
      </p:sp>
      <p:sp>
        <p:nvSpPr>
          <p:cNvPr id="44" name="Text 40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TOUCHPOINT · TWO-WAY RCS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Two-way RCS lets patients confirm, reschedule or ask — in one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94392" y="38404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94392" y="384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8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PENDING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49066" y="1807513"/>
            <a:ext cx="1978920" cy="4294534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6226" y="3439436"/>
            <a:ext cx="170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Two-way RCS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Mockup to be added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MSG-RCS-01</a:t>
            </a:r>
            <a:endParaRPr lang="en-US" sz="1350" dirty="0"/>
          </a:p>
        </p:txBody>
      </p:sp>
      <p:pic>
        <p:nvPicPr>
          <p:cNvPr id="8" name="Image 0" descr="/mnt/user-data/uploads/Devices mockups/A-DEV-IPHONE-02_iphone-notch_portrait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2244436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98916" y="1783080"/>
            <a:ext cx="7935579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73236" y="2057400"/>
            <a:ext cx="384048" cy="384048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7323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667596" y="2020824"/>
            <a:ext cx="68382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Verified sender opens the thread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667596" y="2350008"/>
            <a:ext cx="68382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branded, verified message card explains that rescreen is due, with the patient's due month.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798916" y="3246120"/>
            <a:ext cx="7935579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73236" y="3520440"/>
            <a:ext cx="384048" cy="384048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73236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667596" y="3483864"/>
            <a:ext cx="68382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 picks a suggested reply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667596" y="38130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Tap to answer — no typing needed.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542116" y="3904488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5875">
            <a:solidFill>
              <a:srgbClr val="AA006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42116" y="39044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A00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Order my kit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86284" y="3904488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5875">
            <a:solidFill>
              <a:srgbClr val="AA006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86284" y="39044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A00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Remind me in 2 weeks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687652" y="3904488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5875">
            <a:solidFill>
              <a:srgbClr val="AA006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87652" y="39044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A00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have a question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798916" y="4709160"/>
            <a:ext cx="7935579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73236" y="4983480"/>
            <a:ext cx="384048" cy="384048"/>
          </a:xfrm>
          <a:prstGeom prst="ellipse">
            <a:avLst/>
          </a:prstGeom>
          <a:solidFill>
            <a:srgbClr val="AA0061"/>
          </a:solidFill>
          <a:ln w="12700">
            <a:solidFill>
              <a:srgbClr val="AA006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7323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667596" y="4946904"/>
            <a:ext cx="68382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Conversation closes the loop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667596" y="5276088"/>
            <a:ext cx="68382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Confirmation, provider-order status and kit tracking arrive in the same thread.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shown on iPhone frame · Android frame not yet available (GAP-04)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expect the connected journey to lift on-time rescreen and cut patient effort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On-time rescreen rate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+12 pts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31520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65760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5568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34% → 46% within 90 days of due date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45104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19424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Days from due date to kit order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619424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–18 days</a:t>
            </a:r>
            <a:endParaRPr lang="en-US" sz="3200" dirty="0"/>
          </a:p>
        </p:txBody>
      </p:sp>
      <p:sp>
        <p:nvSpPr>
          <p:cNvPr id="16" name="Shape 13"/>
          <p:cNvSpPr/>
          <p:nvPr/>
        </p:nvSpPr>
        <p:spPr>
          <a:xfrm>
            <a:off x="3619424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64" y="365760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003472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619424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41 → 23 days, median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33008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07328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Steps for patient to reorder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6507328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→ 2</a:t>
            </a:r>
            <a:endParaRPr lang="en-US" sz="3200" dirty="0"/>
          </a:p>
        </p:txBody>
      </p:sp>
      <p:sp>
        <p:nvSpPr>
          <p:cNvPr id="23" name="Shape 19"/>
          <p:cNvSpPr/>
          <p:nvPr/>
        </p:nvSpPr>
        <p:spPr>
          <a:xfrm>
            <a:off x="6507328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657600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891376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507328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Reply + collect; provider step handled for them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9120911" y="1783080"/>
            <a:ext cx="2613584" cy="310896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395231" y="2057400"/>
            <a:ext cx="20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Rescreen satisfaction (CSAT)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9395231" y="2697480"/>
            <a:ext cx="206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+0.6</a:t>
            </a:r>
            <a:endParaRPr lang="en-US" sz="3200" dirty="0"/>
          </a:p>
        </p:txBody>
      </p:sp>
      <p:sp>
        <p:nvSpPr>
          <p:cNvPr id="30" name="Shape 25"/>
          <p:cNvSpPr/>
          <p:nvPr/>
        </p:nvSpPr>
        <p:spPr>
          <a:xfrm>
            <a:off x="9395231" y="35935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12700">
            <a:solidFill>
              <a:srgbClr val="E5F7EC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3657600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779279" y="3593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9395231" y="4069080"/>
            <a:ext cx="206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3.9 → 4.5 out of 5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57200" y="5120640"/>
            <a:ext cx="11277295" cy="1005840"/>
          </a:xfrm>
          <a:prstGeom prst="roundRect">
            <a:avLst>
              <a:gd name="adj" fmla="val 1090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31520" y="51206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we'll measure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Pilot vs. matched holdout of due patients over 90 days. Primary metric: on-time rescreen rate. Assumptions: [reach rate, RCS availability, opt-in rate — placeholders].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Projections: [model placeholder] · Dummy data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Approve a 90-day pilot to prove the concept before we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77272" y="38404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384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DUMMY DATES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0312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12700">
            <a:solidFill>
              <a:srgbClr val="D6DB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 today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Approve the rescreen concept and a 90-day pilot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[pilot segment, market]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Channels: email, SMS, two-way RCS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[budget / team placeholder]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783080"/>
          <a:ext cx="761969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596335"/>
                <a:gridCol w="210312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Approve concept and pilot scope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Final message copy + compliance review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Regulatory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Build email, SMS and RCS flows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Digital · Engineering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Launch pilot to [X] due patients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Operations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Pilot readout and scale decision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Apr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Cologuard Rescreen Experience · New journey concept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6400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Owners and dates are placeholders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Cologuard Rescreen Experience — New journey concept</dc:title>
  <dc:subject>PptxGenJS Presentation</dc:subject>
  <dc:creator>Rajesh</dc:creator>
  <cp:lastModifiedBy>Rajesh</cp:lastModifiedBy>
  <cp:revision>1</cp:revision>
  <dcterms:created xsi:type="dcterms:W3CDTF">2026-09-26T16:18:53Z</dcterms:created>
  <dcterms:modified xsi:type="dcterms:W3CDTF">2026-09-26T16:18:53Z</dcterms:modified>
</cp:coreProperties>
</file>