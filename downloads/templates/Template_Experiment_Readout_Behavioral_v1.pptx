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A6A8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1"/>
                    </a:solidFill>
                    <a:latin typeface="Hanken Grotes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Opened</c:v>
                  </c:pt>
                  <c:pt idx="1">
                    <c:v>Started</c:v>
                  </c:pt>
                  <c:pt idx="2">
                    <c:v>Completed form</c:v>
                  </c:pt>
                  <c:pt idx="3">
                    <c:v>Ordered</c:v>
                  </c:pt>
                  <c:pt idx="4">
                    <c:v>Returned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64</c:v>
                </c:pt>
                <c:pt idx="2">
                  <c:v>41</c:v>
                </c:pt>
                <c:pt idx="3">
                  <c:v>30</c:v>
                </c:pt>
                <c:pt idx="4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Variant</c:v>
                </c:pt>
              </c:strCache>
            </c:strRef>
          </c:tx>
          <c:spPr>
            <a:solidFill>
              <a:srgbClr val="2E4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1"/>
                    </a:solidFill>
                    <a:latin typeface="Hanken Grotes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Opened</c:v>
                  </c:pt>
                  <c:pt idx="1">
                    <c:v>Started</c:v>
                  </c:pt>
                  <c:pt idx="2">
                    <c:v>Completed form</c:v>
                  </c:pt>
                  <c:pt idx="3">
                    <c:v>Ordered</c:v>
                  </c:pt>
                  <c:pt idx="4">
                    <c:v>Returned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71</c:v>
                </c:pt>
                <c:pt idx="2">
                  <c:v>52</c:v>
                </c:pt>
                <c:pt idx="3">
                  <c:v>39</c:v>
                </c:pt>
                <c:pt idx="4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731"/>
                  </a:solidFill>
                  <a:latin typeface="Hanken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Hanken Grotesk"/>
              <a:cs typeface="Hanken Grotesk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A6A8A9"/>
            </a:solidFill>
            <a:ln w="31750" cap="flat">
              <a:solidFill>
                <a:srgbClr val="A6A8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1"/>
                    </a:solidFill>
                    <a:latin typeface="Hanken Grotesk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6A8A9"/>
              </a:solidFill>
              <a:ln w="9525" cap="flat">
                <a:solidFill>
                  <a:srgbClr val="A6A8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41</c:v>
                </c:pt>
                <c:pt idx="2">
                  <c:v>41</c:v>
                </c:pt>
                <c:pt idx="3">
                  <c:v>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Variant</c:v>
                </c:pt>
              </c:strCache>
            </c:strRef>
          </c:tx>
          <c:spPr>
            <a:solidFill>
              <a:srgbClr val="2E4AED"/>
            </a:solidFill>
            <a:ln w="31750" cap="flat">
              <a:solidFill>
                <a:srgbClr val="2E4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1"/>
                    </a:solidFill>
                    <a:latin typeface="Hanken Grotesk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4AED"/>
              </a:solidFill>
              <a:ln w="9525" cap="flat">
                <a:solidFill>
                  <a:srgbClr val="2E4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43</c:v>
                </c:pt>
                <c:pt idx="1">
                  <c:v>48</c:v>
                </c:pt>
                <c:pt idx="2">
                  <c:v>51</c:v>
                </c:pt>
                <c:pt idx="3">
                  <c:v>52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731"/>
                  </a:solidFill>
                  <a:latin typeface="Hanken Grotesk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35"/>
        </c:scaling>
        <c:delete val="0"/>
        <c:axPos val="l"/>
        <c:majorGridlines>
          <c:spPr>
            <a:ln w="6350" cap="flat">
              <a:solidFill>
                <a:srgbClr val="D9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rgbClr val="2E4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1"/>
                    </a:solidFill>
                    <a:latin typeface="Hanken Grotes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731"/>
                  </a:solidFill>
                  <a:latin typeface="Hanken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9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2588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Template · lorem ipsum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10820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Experiment Readout · Behavioral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429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 exercitation ullamco.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B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TPL-EXPERIMENT-01 · STORY-EXP-01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[Audience] · [Month Year] · Owner: [Name]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TO USE THIS TEMPLATE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ways to turn this template into your deck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Behavioral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HOW-TO · delete before sharing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1984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A · EDIT BY HAND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317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Replace every lorem ipsum line and dummy number with your content.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Keep the layouts. Delete slides you have no evidence for.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Put real screenshots behind the grey phone screens.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4754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087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B · USE CLAUDE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16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Attach the Storyloom spec, then write: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4782312"/>
            <a:ext cx="4023360" cy="704088"/>
          </a:xfrm>
          <a:prstGeom prst="roundRect">
            <a:avLst>
              <a:gd name="adj" fmla="val 10390"/>
            </a:avLst>
          </a:prstGeom>
          <a:solidFill>
            <a:srgbClr val="ECECEA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4782312"/>
            <a:ext cx="3749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7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 TPL-EXPERIMENT-01 with STORY-EXP-01, evidence mode Behavioral. Here is my objective, audience and data: …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169164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SLIDE SEQUENCE IN THIS TEMPLATE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20756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075688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overview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174175" y="2075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423160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24231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423160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Problem / opportunity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74175" y="24231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SLD-INSIGHT-01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2770632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27706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770632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Hypothesis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174175" y="2770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SLD-STATEMENT-01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3118104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89320" y="31181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3118104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design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174175" y="31181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SLD-PROCESS-01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3465576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89320" y="34655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3465576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Variants / experience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174175" y="34655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SLD-VARIANTS-01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3813048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89320" y="38130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3813048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Results · Behavioral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174175" y="3813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SLD-KPI-TREND-01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4160520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89320" y="4160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446520" y="4160520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we learned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174175" y="41605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89320" y="4507992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89320" y="45079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446520" y="4507992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Implications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9174175" y="45079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SLD-2COL-01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89320" y="4855464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89320" y="48554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446520" y="4855464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9174175" y="48554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SLD-NEXT-STEPS-01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5989320"/>
            <a:ext cx="5516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All copy is lorem ipsum and every number is dummy data.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Elit sed do eiusmod tempor incididunt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Behavioral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48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45920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42%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3938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49698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138" y="21488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44058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FINDING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49698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of 5</a:t>
            </a:r>
            <a:endParaRPr lang="en-US" sz="4200" dirty="0"/>
          </a:p>
        </p:txBody>
      </p:sp>
      <p:sp>
        <p:nvSpPr>
          <p:cNvPr id="18" name="Text 14"/>
          <p:cNvSpPr txBox="1"/>
          <p:nvPr/>
        </p:nvSpPr>
        <p:spPr>
          <a:xfrm>
            <a:off x="4749698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 ullamco laboris nisi ut aliquip ex.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082077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47837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21488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42197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IMPACT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47837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+18 pts</a:t>
            </a:r>
            <a:endParaRPr lang="en-US" sz="42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 commodo consequat duis aute irure dolor.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685800" y="448056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000075"/>
          </a:solidFill>
          <a:ln w="9525">
            <a:solidFill>
              <a:srgbClr val="00007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51560" y="4841748"/>
            <a:ext cx="1188720" cy="420624"/>
          </a:xfrm>
          <a:prstGeom prst="roundRect">
            <a:avLst>
              <a:gd name="adj" fmla="val 17391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051560" y="48417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2514600" y="4480560"/>
            <a:ext cx="8625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 pretium tincidunt lacus nulla gravida orci a odio nullam.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PROBLEM / OPPORTUNITY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Laboris nisi ut aliquip ex ea commodo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Behavioral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SLD-INSIGHT-01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4846320" cy="4069080"/>
          </a:xfrm>
          <a:prstGeom prst="roundRect">
            <a:avLst>
              <a:gd name="adj" fmla="val 2697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16712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INSIGHT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1546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 minim veniam quis nostrud exercitation ullamco laboris.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4937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eros bibendum elit nec luctus magna felis sollicitudin mauris integer in.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806440" y="1691640"/>
            <a:ext cx="5699455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72200" y="1856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 in 3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185623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4810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Lorem · order data · n = 4,200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06440" y="3139440"/>
            <a:ext cx="5699455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72200" y="33040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62%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330403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39288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Survey · online · n = 1,200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806440" y="4587240"/>
            <a:ext cx="5699455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72200" y="47518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 steps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8183880" y="475183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dolor.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6172200" y="53766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Journey audit · 3 channels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HYPOTHESIS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Lorem ipsum hypothesis as one testable sentence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Behavioral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SLD-STATEMENT-01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820095" cy="2697480"/>
          </a:xfrm>
          <a:prstGeom prst="roundRect">
            <a:avLst>
              <a:gd name="adj" fmla="val 4746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10312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1031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HYPOTHESIS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60320"/>
            <a:ext cx="99056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 believe that laboris nisi ut aliquip ex ea commodo consequat will est eros bibendum elit nec luctus.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7548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WE'LL KNOW IT WORKED WHEN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047488"/>
            <a:ext cx="34238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Dolor in reprehenderit in voluptate velit esse cillum dolore eu.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383938" y="47548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PRIMARY METRIC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383938" y="5047488"/>
            <a:ext cx="34238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Lorem ipsum rate, +2 pts or more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082077" y="47548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GUARDRAIL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82077" y="5047488"/>
            <a:ext cx="34238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Sed do eiusmod tempor incididunt ut labore.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DESIGN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Pretium tincidunt lacus nulla gravida orci 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Behavioral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SLD-PROCESS-01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00200" y="2194560"/>
            <a:ext cx="8991295" cy="0"/>
          </a:xfrm>
          <a:prstGeom prst="line">
            <a:avLst/>
          </a:prstGeom>
          <a:noFill/>
          <a:ln w="25400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Recruit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 dolor in reprehenderit.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73704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370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887904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Randomize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87904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 culpa qui officia.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21528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2152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135728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Expose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35728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 et commodo pharetra.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69351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69351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83551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Measure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83551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 sit.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317175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17175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631375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Decide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631375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 minim veniam quis.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4526280"/>
            <a:ext cx="10820095" cy="1234440"/>
          </a:xfrm>
          <a:prstGeom prst="roundRect">
            <a:avLst>
              <a:gd name="adj" fmla="val 8889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AUDIENCE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 = 12,000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3069275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SPLIT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069275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50 / 50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5086990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DURATION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86990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 weeks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104705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PRIMARY METRIC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104705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Lorem ipsum rate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9122420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GUARDRAIL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122420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Dolor opt-out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VARIANTS / EXPERIENCE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Felis sollicitudin mauris integer in mauris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Behavioral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SLD-VARIANTS-01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Control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8513" y="2212629"/>
            <a:ext cx="1319808" cy="2798210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9953" y="3337414"/>
            <a:ext cx="11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Control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Screenshot goes here</a:t>
            </a:r>
            <a:endParaRPr lang="en-US" sz="13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1463040" cy="29260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423160" y="2240280"/>
            <a:ext cx="1686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566160"/>
            <a:ext cx="1686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63666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10.2%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2423160" y="4114800"/>
            <a:ext cx="1686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83938" y="16916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3938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456651" y="2212629"/>
            <a:ext cx="1319808" cy="2798210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48091" y="3337414"/>
            <a:ext cx="11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A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Screenshot goes here</a:t>
            </a:r>
            <a:endParaRPr lang="en-US" sz="13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38" y="2148840"/>
            <a:ext cx="1463040" cy="29260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121298" y="2240280"/>
            <a:ext cx="1686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 pariatur excepteur sint occaecat.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6121298" y="3566160"/>
            <a:ext cx="1686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11.6%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6121298" y="4114800"/>
            <a:ext cx="1686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+1.4 pts vs control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82077" y="16916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082077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B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154790" y="2212629"/>
            <a:ext cx="1319808" cy="2798210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246230" y="3337414"/>
            <a:ext cx="11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B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Screenshot goes here</a:t>
            </a:r>
            <a:endParaRPr lang="en-US" sz="13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077" y="2148840"/>
            <a:ext cx="1463040" cy="292608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819437" y="2240280"/>
            <a:ext cx="1686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 et commodo.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9819437" y="3566160"/>
            <a:ext cx="1686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7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12.9%</a:t>
            </a:r>
            <a:endParaRPr lang="en-US" sz="2600" dirty="0"/>
          </a:p>
        </p:txBody>
      </p:sp>
      <p:sp>
        <p:nvSpPr>
          <p:cNvPr id="30" name="Text 25"/>
          <p:cNvSpPr txBox="1"/>
          <p:nvPr/>
        </p:nvSpPr>
        <p:spPr>
          <a:xfrm>
            <a:off x="9819437" y="4114800"/>
            <a:ext cx="1686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+2.7 pts vs control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85800" y="534924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051560" y="534924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changed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Nostrud exercitation ullamco laboris nisi ut aliquip ex ea commodo consequat duis aute irure.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RESULTS · BEHAVIORAL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Tempor incididunt ut labore et dolore magna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Behavioral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SLD-KPI-TREND-01 · VIZ-FUNNEL-01 · VIZ-TREND-01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66928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Funnel: share of users reaching each step, %</a:t>
            </a:r>
            <a:endParaRPr lang="en-US" sz="10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914400" y="2331720"/>
          <a:ext cx="52120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629400" y="1691640"/>
            <a:ext cx="4876495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95160" y="2011680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Weekly completion rate, %</a:t>
            </a:r>
            <a:endParaRPr lang="en-US" sz="105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812280" y="2331720"/>
          <a:ext cx="4510735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6629400" y="4617720"/>
            <a:ext cx="4876495" cy="1143000"/>
          </a:xfrm>
          <a:prstGeom prst="roundRect">
            <a:avLst>
              <a:gd name="adj" fmla="val 9600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995160" y="4617720"/>
            <a:ext cx="41449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+11 pts at the form step.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voluptate velit esse cillum dolore eu fugiat nulla pariatur.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WE LEARNED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 ea commodo consequat duis aute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Behavioral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174443"/>
            <a:ext cx="351130" cy="3511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LEARNING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Varius turpis et commodo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Pharetra est eros bibendum elit nec luctus magna felis sollicitudin mauris integer in mauris eu nibh euismod gravida lorem ipsum.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3938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49698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742" y="2174443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49698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LEARNING 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49698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Ut labore et dolore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4749698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Eiusmod tempor incididunt ut labore et dolore magna aliqua ut enim ad minim veniam quis nostrud exercitation ullamco laboris nisi.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082077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47837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880" y="2174443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47837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LEARNING 3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47837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Eu fugiat nulla pariatur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Irure dolor in reprehenderit in voluptate velit esse cillum dolore eu fugiat nulla pariatur excepteur sint occaecat cupidatat non proident.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Sint occaecat cupidatat non proident sunt 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Behavioral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SLD-2COL-01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272888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57400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MESSAGE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423160"/>
            <a:ext cx="4541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Fugiat nulla pariatur excepteur sint occaecat cupidatat non proident sunt.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611880"/>
            <a:ext cx="45413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Amet consectetur adipiscing elit sed do eiusmod tempor incididunt ut labore et dolore magna aliqua ut enim ad minim veniam quis nostrud exercitation ullamco laboris nisi.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33008" y="1691640"/>
            <a:ext cx="5272888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057400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61608" y="2423160"/>
          <a:ext cx="481568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6598768" y="5166360"/>
            <a:ext cx="454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Source: [placeholder] · method · n = 1,200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Gravida orci a odio nullam varius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Behavioral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SLD-NEXT-STEPS-01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11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291840" cy="4069080"/>
          </a:xfrm>
          <a:prstGeom prst="roundRect">
            <a:avLst>
              <a:gd name="adj" fmla="val 3333"/>
            </a:avLst>
          </a:prstGeom>
          <a:solidFill>
            <a:srgbClr val="000075"/>
          </a:solidFill>
          <a:ln w="9525">
            <a:solidFill>
              <a:srgbClr val="0000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Decision needed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6517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Consequat duis aute irure dolor in reprehenderit.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2062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Scope: [lorem ipsum]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Owner: [role]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Resources: [dolor sit]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691640"/>
          <a:ext cx="725393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322015"/>
                <a:gridCol w="192024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STEP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ACTION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OWNER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DATE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Ad minim veniam quis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Leadership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Oct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Fugiat nulla pariatur excepteur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Design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Nov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Odio nullam varius turpis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Product · Eng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Dec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Amet consectetur adipiscing elit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Ops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Jan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5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 ea commodo consequat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Analytics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Mar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Readout · Behavioral — template</dc:title>
  <dc:subject>PptxGenJS Presentation</dc:subject>
  <dc:creator>Storyloom AI</dc:creator>
  <cp:lastModifiedBy>Storyloom AI</cp:lastModifiedBy>
  <cp:revision>1</cp:revision>
  <dcterms:created xsi:type="dcterms:W3CDTF">2026-10-02T19:22:53Z</dcterms:created>
  <dcterms:modified xsi:type="dcterms:W3CDTF">2026-10-02T19:22:53Z</dcterms:modified>
</cp:coreProperties>
</file>