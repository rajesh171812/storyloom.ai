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Lorem</c:v>
                </c:pt>
              </c:strCache>
            </c:strRef>
          </c:tx>
          <c:spPr>
            <a:solidFill>
              <a:srgbClr val="2E4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731"/>
                    </a:solidFill>
                    <a:latin typeface="Hanken Grotes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731"/>
                  </a:solidFill>
                  <a:latin typeface="Hanken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9D9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666A"/>
                </a:solidFill>
                <a:latin typeface="Hanken Grotesk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25880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Template · lorem ipsum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10820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Experiment Readout · Qualitative / feedback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429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 exercitation ullamco.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B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TPL-EXPERIMENT-01 · STORY-EXP-01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943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[Audience] · [Month Year] · Owner: [Name]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TO USE THIS TEMPLATE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ways to turn this template into your deck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Qualitative / feedback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HOW-TO · delete before sharing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02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1984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A · EDIT BY HAND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317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Replace every lorem ipsum line and dummy number with your content.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Keep the layouts. Delete slides you have no evidence for.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Put real screenshots behind the grey phone screens.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4754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087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OPTION B · USE CLAUDE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416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Attach the Storyloom spec, then write: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4782312"/>
            <a:ext cx="4023360" cy="704088"/>
          </a:xfrm>
          <a:prstGeom prst="roundRect">
            <a:avLst>
              <a:gd name="adj" fmla="val 10390"/>
            </a:avLst>
          </a:prstGeom>
          <a:solidFill>
            <a:srgbClr val="ECECEA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4782312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73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TPL-EXPERIMENT-01 with STORY-EXP-01, evidence mode Qualitative / feedback. Here is my objective, audience and data: …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69164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SLIDE SEQUENCE IN THIS TEMPLATE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20756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075688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overview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174175" y="207568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423160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24231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423160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Problem / opportunity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174175" y="24231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SLD-INSIGHT-01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2770632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27706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2770632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Hypothesis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174175" y="2770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SLD-STATEMENT-01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3118104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9320" y="31181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3118104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design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174175" y="311810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SLD-PROCESS-01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3465576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89320" y="34655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3465576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Variants / experience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174175" y="346557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SLD-VARIANTS-01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3813048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89320" y="38130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3813048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Results · Qualitative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174175" y="3813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SLD-KPI-TREND-01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4160520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89320" y="4160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446520" y="4160520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 learned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174175" y="41605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4507992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89320" y="45079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4507992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Implications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9174175" y="45079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SLD-2COL-01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89320" y="4855464"/>
            <a:ext cx="5516575" cy="0"/>
          </a:xfrm>
          <a:prstGeom prst="line">
            <a:avLst/>
          </a:prstGeom>
          <a:noFill/>
          <a:ln w="6350">
            <a:solidFill>
              <a:srgbClr val="D9D9D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89320" y="48554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446520" y="4855464"/>
            <a:ext cx="2681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9174175" y="48554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4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5989320"/>
            <a:ext cx="5516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846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All copy is lorem ipsum and every number is dummy data.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Elit sed do eiusmod tempor incididunt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Qualitative / feedback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SLD-EXEC-SUMMARY-01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03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45920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CONTEXT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42%</a:t>
            </a:r>
            <a:endParaRPr lang="en-US" sz="42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Labore et dolore magna aliqua ut enim ad minim veniam quis nostrud.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138" y="21488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44058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FINDING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 of 5</a:t>
            </a:r>
            <a:endParaRPr lang="en-US" sz="42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 ullamco laboris nisi ut aliquip ex.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21488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42197" y="2148840"/>
            <a:ext cx="2097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IMPACT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265176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+18 pts</a:t>
            </a:r>
            <a:endParaRPr lang="en-US" sz="42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342900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 commodo consequat duis aute irure dolor.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685800" y="4480560"/>
            <a:ext cx="10820095" cy="1143000"/>
          </a:xfrm>
          <a:prstGeom prst="roundRect">
            <a:avLst>
              <a:gd name="adj" fmla="val 9600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51560" y="4841748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051560" y="48417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ASK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2514600" y="4480560"/>
            <a:ext cx="86255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 curabitur pretium tincidunt lacus nulla gravida orci a odio nullam.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PROBLEM / OPPORTUNITY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Laboris nisi ut aliquip ex ea commodo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Qualitative / feedback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SLD-INSIGHT-01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04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4846320" cy="4069080"/>
          </a:xfrm>
          <a:prstGeom prst="roundRect">
            <a:avLst>
              <a:gd name="adj" fmla="val 2697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1671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INSIGHT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1546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Ad minim veniam quis nostrud exercitation ullamco laboris.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49377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Est eros bibendum elit nec luctus magna felis sollicitudin mauris integer in.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806440" y="16916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72200" y="18562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 in 3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18562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Laboris nisi ut aliquip ex ea.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24810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Lorem · order data · n = 4,200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06440" y="31394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72200" y="3304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62%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33040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Deserunt mollit anim id est laborum.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39288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Survey · online · n = 1,200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06440" y="4587240"/>
            <a:ext cx="5699455" cy="1173480"/>
          </a:xfrm>
          <a:prstGeom prst="roundRect">
            <a:avLst>
              <a:gd name="adj" fmla="val 9351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72200" y="47518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 steps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8183880" y="4751832"/>
            <a:ext cx="2956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dolor.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6172200" y="5376672"/>
            <a:ext cx="49679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  Journey audit · 3 channels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Lorem ipsum hypothesis as one testable sentence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Qualitative / feedback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SLD-STATEMENT-01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05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0820095" cy="2697480"/>
          </a:xfrm>
          <a:prstGeom prst="roundRect">
            <a:avLst>
              <a:gd name="adj" fmla="val 4746"/>
            </a:avLst>
          </a:prstGeom>
          <a:solidFill>
            <a:srgbClr val="2E4AED"/>
          </a:solidFill>
          <a:ln w="9525">
            <a:solidFill>
              <a:srgbClr val="2E4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10312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1031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HYPOTHESIS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60320"/>
            <a:ext cx="99056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 believe that laboris nisi ut aliquip ex ea commodo consequat will est eros bibendum elit nec luctus.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WE'LL KNOW IT WORKED WHEN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047488"/>
            <a:ext cx="34238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Dolor in reprehenderit in voluptate velit esse cillum dolore eu.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383938" y="4754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PRIMARY METRIC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383938" y="5047488"/>
            <a:ext cx="34238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Lorem ipsum rate, +2 pts or more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082077" y="47548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GUARDRAIL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82077" y="5047488"/>
            <a:ext cx="34238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Sed do eiusmod tempor incididunt ut labore.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EXPERIMENT DESIGN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Pretium tincidunt lacus nulla gravida orci 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Qualitative / feedback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SLD-PROCESS-01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06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00200" y="2194560"/>
            <a:ext cx="8991295" cy="0"/>
          </a:xfrm>
          <a:prstGeom prst="line">
            <a:avLst/>
          </a:prstGeom>
          <a:noFill/>
          <a:ln w="25400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Recruit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Consequat duis aute irure dolor in reprehenderit.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73704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370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887904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Randomize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87904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Non proident sunt in culpa qui officia.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21528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2152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135728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Expose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35728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 pharetra.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69351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69351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383551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Measure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83551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Nibh euismod gravida lorem ipsum dolor sit.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317175" y="1920240"/>
            <a:ext cx="548640" cy="548640"/>
          </a:xfrm>
          <a:prstGeom prst="ellipse">
            <a:avLst/>
          </a:prstGeom>
          <a:solidFill>
            <a:srgbClr val="2E4AED"/>
          </a:solidFill>
          <a:ln w="12700">
            <a:solidFill>
              <a:srgbClr val="2E4A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17175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631375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Decide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631375" y="3063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Aliqua ut enim ad minim veniam quis.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4526280"/>
            <a:ext cx="10820095" cy="1234440"/>
          </a:xfrm>
          <a:prstGeom prst="roundRect">
            <a:avLst>
              <a:gd name="adj" fmla="val 8889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AUDIENCE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 = 12,000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3069275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SPLIT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069275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50 / 50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5086990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DURATION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86990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 weeks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104705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PRIMARY METRIC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104705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Lorem ipsum rate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9122420" y="4818888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GUARDRAIL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122420" y="5120640"/>
            <a:ext cx="18348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Dolor opt-out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VARIANTS / EXPERIENCE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Felis sollicitudin mauris integer in mauris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Qualitative / feedback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SLD-VARIANTS-01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07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Control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8513" y="2212629"/>
            <a:ext cx="1319808" cy="2798210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9953" y="3337414"/>
            <a:ext cx="11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Control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Screenshot goes here</a:t>
            </a:r>
            <a:endParaRPr lang="en-US" sz="13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48840"/>
            <a:ext cx="1463040" cy="29260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423160" y="2240280"/>
            <a:ext cx="1686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 minim veniam quis nostrud exercitation.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566160"/>
            <a:ext cx="1686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63666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10.2%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2423160" y="4114800"/>
            <a:ext cx="1686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83938" y="1691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83938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456651" y="2212629"/>
            <a:ext cx="1319808" cy="2798210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48091" y="3337414"/>
            <a:ext cx="11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A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Screenshot goes here</a:t>
            </a:r>
            <a:endParaRPr lang="en-US" sz="13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38" y="2148840"/>
            <a:ext cx="1463040" cy="29260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121298" y="2240280"/>
            <a:ext cx="1686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Fugiat nulla pariatur excepteur sint occaecat.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6121298" y="3566160"/>
            <a:ext cx="1686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4AED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11.6%</a:t>
            </a:r>
            <a:endParaRPr lang="en-US" sz="2600" dirty="0"/>
          </a:p>
        </p:txBody>
      </p:sp>
      <p:sp>
        <p:nvSpPr>
          <p:cNvPr id="22" name="Text 18"/>
          <p:cNvSpPr txBox="1"/>
          <p:nvPr/>
        </p:nvSpPr>
        <p:spPr>
          <a:xfrm>
            <a:off x="6121298" y="4114800"/>
            <a:ext cx="1686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+1.4 pts vs control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82077" y="169164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082077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B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154790" y="2212629"/>
            <a:ext cx="1319808" cy="2798210"/>
          </a:xfrm>
          <a:prstGeom prst="roundRect">
            <a:avLst>
              <a:gd name="adj" fmla="val 14000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46230" y="3337414"/>
            <a:ext cx="113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Variant B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Screenshot goes here</a:t>
            </a:r>
            <a:endParaRPr lang="en-US" sz="13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077" y="2148840"/>
            <a:ext cx="1463040" cy="292608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819437" y="2240280"/>
            <a:ext cx="1686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Odio nullam varius turpis et commodo.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9819437" y="3566160"/>
            <a:ext cx="1686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75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12.9%</a:t>
            </a:r>
            <a:endParaRPr lang="en-US" sz="2600" dirty="0"/>
          </a:p>
        </p:txBody>
      </p:sp>
      <p:sp>
        <p:nvSpPr>
          <p:cNvPr id="30" name="Text 25"/>
          <p:cNvSpPr txBox="1"/>
          <p:nvPr/>
        </p:nvSpPr>
        <p:spPr>
          <a:xfrm>
            <a:off x="9819437" y="4114800"/>
            <a:ext cx="1686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+2.7 pts vs control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85800" y="5349240"/>
            <a:ext cx="10820095" cy="502920"/>
          </a:xfrm>
          <a:prstGeom prst="roundRect">
            <a:avLst>
              <a:gd name="adj" fmla="val 21818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051560" y="5349240"/>
            <a:ext cx="10088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changed  </a:t>
            </a:r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Nostrud exercitation ullamco laboris nisi ut aliquip ex ea commodo consequat duis aute irure.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RESULTS · QUALITATIVE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Tempor incididunt ut labore et dolore magna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Qualitative / feedback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SLD-KPI-TREND-01 · CMP-QUOTE-01 · VIZ-CLUSTER-01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08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5740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THEME 1 · 14 mentions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Labore et dolore magna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1560" y="3154680"/>
            <a:ext cx="2692298" cy="1097280"/>
          </a:xfrm>
          <a:prstGeom prst="roundRect">
            <a:avLst>
              <a:gd name="adj" fmla="val 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32918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899" y="3354019"/>
            <a:ext cx="186538" cy="18653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18488" y="3282696"/>
            <a:ext cx="196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“Elit sed do eiusmod tempor incididunt ut labore.”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618488" y="3941064"/>
            <a:ext cx="1960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Participant 1 · Segment 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51560" y="4389120"/>
            <a:ext cx="2692298" cy="1097280"/>
          </a:xfrm>
          <a:prstGeom prst="roundRect">
            <a:avLst>
              <a:gd name="adj" fmla="val 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88720" y="45262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99" y="4588459"/>
            <a:ext cx="186538" cy="18653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618488" y="4517136"/>
            <a:ext cx="196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“Laboris nisi ut aliquip ex ea commodo consequat.”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1618488" y="5175504"/>
            <a:ext cx="1960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Participant 2 · Segment B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749698" y="205740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THEME 2 · 9 mentions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749698" y="237744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Non proident sunt in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4749698" y="3154680"/>
            <a:ext cx="2692298" cy="1097280"/>
          </a:xfrm>
          <a:prstGeom prst="roundRect">
            <a:avLst>
              <a:gd name="adj" fmla="val 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86858" y="32918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038" y="3354019"/>
            <a:ext cx="186538" cy="18653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316626" y="3282696"/>
            <a:ext cx="196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“In voluptate velit esse cillum dolore eu fugiat.”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5316626" y="3941064"/>
            <a:ext cx="1960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Participant 3 · Segment B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749698" y="4389120"/>
            <a:ext cx="2692298" cy="1097280"/>
          </a:xfrm>
          <a:prstGeom prst="roundRect">
            <a:avLst>
              <a:gd name="adj" fmla="val 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886858" y="45262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038" y="4588459"/>
            <a:ext cx="186538" cy="18653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316626" y="4517136"/>
            <a:ext cx="196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“Deserunt mollit anim id est laborum curabitur pretium.”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5316626" y="5175504"/>
            <a:ext cx="1960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Participant 4 · Segment C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447837" y="205740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0412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THEME 3 · 6 mentions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8447837" y="2377440"/>
            <a:ext cx="2692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Nibh euismod gravida lorem</a:t>
            </a: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8447837" y="3154680"/>
            <a:ext cx="2692298" cy="1097280"/>
          </a:xfrm>
          <a:prstGeom prst="roundRect">
            <a:avLst>
              <a:gd name="adj" fmla="val 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584997" y="329184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176" y="3354019"/>
            <a:ext cx="186538" cy="186538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014765" y="3282696"/>
            <a:ext cx="196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“Odio nullam varius turpis et commodo pharetra est.”</a:t>
            </a:r>
            <a:endParaRPr lang="en-US" sz="1150" dirty="0"/>
          </a:p>
        </p:txBody>
      </p:sp>
      <p:sp>
        <p:nvSpPr>
          <p:cNvPr id="40" name="Text 33"/>
          <p:cNvSpPr txBox="1"/>
          <p:nvPr/>
        </p:nvSpPr>
        <p:spPr>
          <a:xfrm>
            <a:off x="9014765" y="3941064"/>
            <a:ext cx="1960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Participant 5 · Segment C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8447837" y="4389120"/>
            <a:ext cx="2692298" cy="1097280"/>
          </a:xfrm>
          <a:prstGeom prst="roundRect">
            <a:avLst>
              <a:gd name="adj" fmla="val 6667"/>
            </a:avLst>
          </a:prstGeom>
          <a:solidFill>
            <a:srgbClr val="ECECEA"/>
          </a:solidFill>
          <a:ln w="9525">
            <a:solidFill>
              <a:srgbClr val="ECECEA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584997" y="45262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7176" y="4588459"/>
            <a:ext cx="186538" cy="186538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9014765" y="4517136"/>
            <a:ext cx="1960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731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“Nibh euismod gravida lorem ipsum dolor sit amet.”</a:t>
            </a:r>
            <a:endParaRPr lang="en-US" sz="1150" dirty="0"/>
          </a:p>
        </p:txBody>
      </p:sp>
      <p:sp>
        <p:nvSpPr>
          <p:cNvPr id="45" name="Text 37"/>
          <p:cNvSpPr txBox="1"/>
          <p:nvPr/>
        </p:nvSpPr>
        <p:spPr>
          <a:xfrm>
            <a:off x="9014765" y="5175504"/>
            <a:ext cx="19607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Participant 6 · Segment C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WHAT WE LEARNED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 ea commodo consequat duis aute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Qualitative / feedback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SLD-3COL-01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09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174443"/>
            <a:ext cx="351130" cy="35113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LEARNING 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Varius turpis et commodo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Pharetra est eros bibendum elit nec luctus magna felis sollicitudin mauris integer in mauris eu nibh euismod gravida lorem ipsum.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83938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49698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742" y="2174443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49698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LEARNING 2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49698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Ut labore et dolore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4749698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Eiusmod tempor incididunt ut labore et dolore magna aliqua ut enim ad minim veniam quis nostrud exercitation ullamco laboris nisi.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082077" y="1691640"/>
            <a:ext cx="3423818" cy="406908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47837" y="2057400"/>
            <a:ext cx="585216" cy="585216"/>
          </a:xfrm>
          <a:prstGeom prst="roundRect">
            <a:avLst>
              <a:gd name="adj" fmla="val 30000"/>
            </a:avLst>
          </a:prstGeom>
          <a:solidFill>
            <a:srgbClr val="EEF0FE"/>
          </a:solidFill>
          <a:ln w="9525">
            <a:solidFill>
              <a:srgbClr val="EEF0F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80" y="2174443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47837" y="288036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LEARNING 3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8447837" y="320040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Eu fugiat nulla pariatur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447837" y="4023360"/>
            <a:ext cx="26922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Irure dolor in reprehenderit in voluptate velit esse cillum dolore eu fugiat nulla pariatur excepteur sint occaecat cupidatat non proident.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IMPLICATIONS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Sint occaecat cupidatat non proident sunt 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Qualitative / feedback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SLD-2COL-01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10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272888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05740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MESSAGE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423160"/>
            <a:ext cx="4541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Fugiat nulla pariatur excepteur sint occaecat cupidatat non proident sunt.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611880"/>
            <a:ext cx="45413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Amet consectetur adipiscing elit sed do eiusmod tempor incididunt ut labore et dolore magna aliqua ut enim ad minim veniam quis nostrud exercitation ullamco laboris nisi.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33008" y="1691640"/>
            <a:ext cx="5272888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2057400"/>
            <a:ext cx="454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EVIDENCE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61608" y="2423160"/>
          <a:ext cx="481568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6598768" y="5166360"/>
            <a:ext cx="454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Source: [placeholder] · method · n = 1,200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4AE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2227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Gravida orci a odio nullam varius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00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[Project name] · Experiment Readout · Qualitative / feedback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6400800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6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SLD-NEXT-STEPS-01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865815" y="6400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3666A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11 / 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3291840" cy="4069080"/>
          </a:xfrm>
          <a:prstGeom prst="roundRect">
            <a:avLst>
              <a:gd name="adj" fmla="val 3333"/>
            </a:avLst>
          </a:prstGeom>
          <a:solidFill>
            <a:srgbClr val="000075"/>
          </a:solidFill>
          <a:ln w="9525">
            <a:solidFill>
              <a:srgbClr val="0000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0574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D6DBFC"/>
          </a:solidFill>
          <a:ln w="9525">
            <a:solidFill>
              <a:srgbClr val="D6DB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75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Decision needed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6517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Consequat duis aute irure dolor in reprehenderit.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2062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Scope: [lorem ipsum]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Owner: [role]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D6DBFC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Resources: [dolor sit]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691640"/>
          <a:ext cx="725393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322015"/>
                <a:gridCol w="192024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STEP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ACTION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OWNER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3666A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DATE</a:t>
                      </a:r>
                      <a:endParaRPr lang="en-US" sz="10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A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1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Ad minim veniam quis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Leadership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Oct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Fugiat nulla pariatur excepteur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Design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Nov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Odio nullam varius turpis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Product · Eng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Dec 2026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4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Amet consectetur adipiscing elit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CX · Ops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Jan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4AE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 ea commodo consequat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Analytics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31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Mar 2027</a:t>
                      </a:r>
                      <a:endParaRPr lang="en-US" sz="13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Experiment Readout · Qualitative / feedback — template</dc:title>
  <dc:subject>PptxGenJS Presentation</dc:subject>
  <dc:creator>Storyloom AI</dc:creator>
  <cp:lastModifiedBy>Storyloom AI</cp:lastModifiedBy>
  <cp:revision>1</cp:revision>
  <dcterms:created xsi:type="dcterms:W3CDTF">2026-10-02T19:22:53Z</dcterms:created>
  <dcterms:modified xsi:type="dcterms:W3CDTF">2026-10-02T19:22:53Z</dcterms:modified>
</cp:coreProperties>
</file>