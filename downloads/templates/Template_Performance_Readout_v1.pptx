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rgbClr val="2E4AED"/>
            </a:solidFill>
            <a:ln w="31750" cap="flat">
              <a:solidFill>
                <a:srgbClr val="2E4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731"/>
                    </a:solidFill>
                    <a:latin typeface="Hanken Grotesk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4AED"/>
              </a:solidFill>
              <a:ln w="9525" cap="flat">
                <a:solidFill>
                  <a:srgbClr val="2E4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38</c:v>
                </c:pt>
                <c:pt idx="1">
                  <c:v>39</c:v>
                </c:pt>
                <c:pt idx="2">
                  <c:v>38</c:v>
                </c:pt>
                <c:pt idx="3">
                  <c:v>40</c:v>
                </c:pt>
                <c:pt idx="4">
                  <c:v>41</c:v>
                </c:pt>
                <c:pt idx="5">
                  <c:v>40</c:v>
                </c:pt>
                <c:pt idx="6">
                  <c:v>42</c:v>
                </c:pt>
                <c:pt idx="7">
                  <c:v>43</c:v>
                </c:pt>
                <c:pt idx="8">
                  <c:v>43</c:v>
                </c:pt>
                <c:pt idx="9">
                  <c:v>44</c:v>
                </c:pt>
                <c:pt idx="10">
                  <c:v>45</c:v>
                </c:pt>
                <c:pt idx="11">
                  <c:v>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731"/>
                  </a:solidFill>
                  <a:latin typeface="Hanken Grotesk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0"/>
        <c:axPos val="l"/>
        <c:majorGridlines>
          <c:spPr>
            <a:ln w="6350" cap="flat">
              <a:solidFill>
                <a:srgbClr val="D9D9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rgbClr val="2E4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731"/>
                    </a:solidFill>
                    <a:latin typeface="Hanken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Q4 '24</c:v>
                  </c:pt>
                  <c:pt idx="1">
                    <c:v>Q1 '25</c:v>
                  </c:pt>
                  <c:pt idx="2">
                    <c:v>Q2 '25</c:v>
                  </c:pt>
                  <c:pt idx="3">
                    <c:v>Q3 '25</c:v>
                  </c:pt>
                  <c:pt idx="4">
                    <c:v>Q4 '25</c:v>
                  </c:pt>
                  <c:pt idx="5">
                    <c:v>Q1 '26</c:v>
                  </c:pt>
                  <c:pt idx="6">
                    <c:v>Q2 '26</c:v>
                  </c:pt>
                  <c:pt idx="7">
                    <c:v>Q3 '26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112</c:v>
                </c:pt>
                <c:pt idx="1">
                  <c:v>118</c:v>
                </c:pt>
                <c:pt idx="2">
                  <c:v>121</c:v>
                </c:pt>
                <c:pt idx="3">
                  <c:v>119</c:v>
                </c:pt>
                <c:pt idx="4">
                  <c:v>131</c:v>
                </c:pt>
                <c:pt idx="5">
                  <c:v>138</c:v>
                </c:pt>
                <c:pt idx="6">
                  <c:v>142</c:v>
                </c:pt>
                <c:pt idx="7">
                  <c:v>155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731"/>
                  </a:solidFill>
                  <a:latin typeface="Hanken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Hanken Grotesk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3444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Template · lorem ipsum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Performance Readout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Labore et dolore magna aliqua ut enim ad minim veniam quis nostrud exercitation ullamco laboris nisi ut aliquip.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BF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TPL-PERFORMANCE-01 · STORY-PERF-01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[Audience] · [Month Year] · Owner: [Name]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TO USE THIS TEMPLATE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Two ways to turn this template into your deck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HOW-TO · delete before sharing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754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OPTION A · EDIT BY HAND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Replace every lorem ipsum line and dummy number with your content.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the layouts. Delete slides you have no evidence for.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Put real screenshots behind the grey phone screens.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977640"/>
            <a:ext cx="47548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OPTION B · USE YOUR AI TOOL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526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Attach cx-presentation-system.md, then write: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4206240" cy="1097280"/>
          </a:xfrm>
          <a:prstGeom prst="roundRect">
            <a:avLst>
              <a:gd name="adj" fmla="val 6667"/>
            </a:avLst>
          </a:prstGeom>
          <a:solidFill>
            <a:srgbClr val="ECECEA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892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73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 TPL-PERFORMANCE-01 with STORY-PERF-01. Here is my objective, audience and data: …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1783080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SLIDE SEQUENCE IN THIS TEMPLATE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2148840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148840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Executive summary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402775" y="214884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SLD-EXEC-SUMMARY-01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77840" y="2478024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247802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478024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Performance at a glance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402775" y="247802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SLD-KPI-GRID-01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2807208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28072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2807208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KPI / metric overview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402775" y="28072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SLD-KPI-TREND-01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77840" y="3136392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313639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3136392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Trend over time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402775" y="313639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SLD-CHART-FOCUS-01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577840" y="3465576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0" y="3465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035040" y="3465576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Key drivers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402775" y="346557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SLD-3COL-01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577840" y="3794760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0" y="3794760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035040" y="3794760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Areas of opportunity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402775" y="379476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SLD-MATRIX-01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577840" y="4123944"/>
            <a:ext cx="6156655" cy="0"/>
          </a:xfrm>
          <a:prstGeom prst="line">
            <a:avLst/>
          </a:prstGeom>
          <a:noFill/>
          <a:ln w="6350">
            <a:solidFill>
              <a:srgbClr val="D9D9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77840" y="41239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4123944"/>
            <a:ext cx="3322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Recommendations / next steps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402775" y="412394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4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SLD-RECOMMEND-01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6172200"/>
            <a:ext cx="6156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A846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All copy is lorem ipsum and every number is dummy data.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EXECUTIVE 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Elit sed do eiusmod tempor incididunt ut labore 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SLD-EXEC-SUMMARY-01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57621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0253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93976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2084832"/>
            <a:ext cx="2433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560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42%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4290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Labore et dolore magna aliqua ut enim ad minim veniam quis nostrud exercitation ullamco laboris nisi.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07738" y="1783080"/>
            <a:ext cx="357621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82058" y="200253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498" y="2093976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76418" y="2084832"/>
            <a:ext cx="2433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FINDING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2560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 of 5</a:t>
            </a:r>
            <a:endParaRPr lang="en-US" sz="420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4290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 minim veniam quis nostrud exercitation ullamco laboris nisi ut aliquip ex ea commodo consequat duis.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58277" y="1783080"/>
            <a:ext cx="357621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432597" y="200253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093976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026957" y="2084832"/>
            <a:ext cx="2433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IMPACT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432597" y="2560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+18 pts</a:t>
            </a:r>
            <a:endParaRPr lang="en-US" sz="4200" dirty="0"/>
          </a:p>
        </p:txBody>
      </p:sp>
      <p:sp>
        <p:nvSpPr>
          <p:cNvPr id="24" name="Text 19"/>
          <p:cNvSpPr txBox="1"/>
          <p:nvPr/>
        </p:nvSpPr>
        <p:spPr>
          <a:xfrm>
            <a:off x="8432597" y="3429000"/>
            <a:ext cx="30275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Laboris nisi ut aliquip ex ea commodo consequat duis aute irure dolor in reprehenderit in voluptate.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457200" y="4846320"/>
            <a:ext cx="11277295" cy="1234440"/>
          </a:xfrm>
          <a:prstGeom prst="roundRect">
            <a:avLst>
              <a:gd name="adj" fmla="val 7407"/>
            </a:avLst>
          </a:prstGeom>
          <a:solidFill>
            <a:srgbClr val="000075"/>
          </a:solidFill>
          <a:ln w="9525">
            <a:solidFill>
              <a:srgbClr val="000075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1520" y="5230368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31520" y="5230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ASK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2194560" y="4846320"/>
            <a:ext cx="9052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 est laborum curabitur pretium tincidunt lacus nulla gravida orci a odio nullam varius turpis et commodo pharetra est.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PERFORMANCE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Laboris nisi ut aliquip ex ea commodo consequat duis aute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SLD-KPI-GRID-01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13584" cy="3108960"/>
          </a:xfrm>
          <a:prstGeom prst="roundRect">
            <a:avLst>
              <a:gd name="adj" fmla="val 419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574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Lorem ipsum rate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97480"/>
            <a:ext cx="2064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46%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731520" y="3593592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657600"/>
            <a:ext cx="219456" cy="2194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15568" y="359359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Up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069080"/>
            <a:ext cx="2064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34% → 46% vs baseline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345104" y="1783080"/>
            <a:ext cx="2613584" cy="3108960"/>
          </a:xfrm>
          <a:prstGeom prst="roundRect">
            <a:avLst>
              <a:gd name="adj" fmla="val 419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19424" y="20574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Dolor sit time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697480"/>
            <a:ext cx="2064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–18 days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619424" y="3593592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64" y="365760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003472" y="359359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Down (better)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3619424" y="4069080"/>
            <a:ext cx="2064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41 → 23 days, median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33008" y="1783080"/>
            <a:ext cx="2613584" cy="3108960"/>
          </a:xfrm>
          <a:prstGeom prst="roundRect">
            <a:avLst>
              <a:gd name="adj" fmla="val 419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07328" y="20574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Amet steps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6507328" y="2697480"/>
            <a:ext cx="2064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 → 2</a:t>
            </a:r>
            <a:endParaRPr lang="en-US" sz="3200" dirty="0"/>
          </a:p>
        </p:txBody>
      </p:sp>
      <p:sp>
        <p:nvSpPr>
          <p:cNvPr id="24" name="Shape 20"/>
          <p:cNvSpPr/>
          <p:nvPr/>
        </p:nvSpPr>
        <p:spPr>
          <a:xfrm>
            <a:off x="6507328" y="3593592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3657600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891376" y="359359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Down (better)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6507328" y="4069080"/>
            <a:ext cx="2064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Consectetur adipiscing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9120911" y="1783080"/>
            <a:ext cx="2613584" cy="3108960"/>
          </a:xfrm>
          <a:prstGeom prst="roundRect">
            <a:avLst>
              <a:gd name="adj" fmla="val 419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395231" y="20574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Elit satisfaction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9395231" y="2697480"/>
            <a:ext cx="2064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4.5</a:t>
            </a:r>
            <a:endParaRPr lang="en-US" sz="3200" dirty="0"/>
          </a:p>
        </p:txBody>
      </p:sp>
      <p:sp>
        <p:nvSpPr>
          <p:cNvPr id="31" name="Shape 26"/>
          <p:cNvSpPr/>
          <p:nvPr/>
        </p:nvSpPr>
        <p:spPr>
          <a:xfrm>
            <a:off x="9395231" y="3593592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3657600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779279" y="359359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Up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9395231" y="4069080"/>
            <a:ext cx="2064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3.9 → 4.5 out of 5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457200" y="5120640"/>
            <a:ext cx="11277295" cy="1005840"/>
          </a:xfrm>
          <a:prstGeom prst="roundRect">
            <a:avLst>
              <a:gd name="adj" fmla="val 10909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731520" y="512064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Definitions  </a:t>
            </a:r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 ipsum dolor sit amet consectetur adipiscing elit sed do eiusmod tempor incididunt ut labore et dolore magna aliqua ut enim ad minim.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KPI / METRIC OVERVIEW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Fugiat nulla pariatur excepteur sint occaecat cupidatat non proident sunt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SLD-KPI-TREND-01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05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926080" cy="43434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LOREM IPSUM RATE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46%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1600200" cy="347472"/>
          </a:xfrm>
          <a:prstGeom prst="roundRect">
            <a:avLst>
              <a:gd name="adj" fmla="val 21053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49300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15568" y="34290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Up 6 pts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9776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Q3 2026 vs Q3 2025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Non proident sunt in culpa qui officia deserunt mollit anim id est.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657600" y="1783080"/>
            <a:ext cx="51663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3192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Monthly lorem ipsum rate, %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840480" y="2331720"/>
          <a:ext cx="4846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3"/>
          <p:cNvSpPr/>
          <p:nvPr/>
        </p:nvSpPr>
        <p:spPr>
          <a:xfrm>
            <a:off x="9098280" y="1783080"/>
            <a:ext cx="2636215" cy="4343400"/>
          </a:xfrm>
          <a:prstGeom prst="roundRect">
            <a:avLst>
              <a:gd name="adj" fmla="val 4162"/>
            </a:avLst>
          </a:prstGeom>
          <a:solidFill>
            <a:srgbClr val="2E4AED"/>
          </a:solidFill>
          <a:ln w="9525">
            <a:solidFill>
              <a:srgbClr val="2E4AE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37260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INSIGHT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372600" y="23774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Tempor incididunt ut labore et dolore magna aliqua ut enim ad minim.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937260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DBF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IMPLICATION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9372600" y="45262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Sint occaecat cupidatat non proident sunt in culpa qui officia deserunt mollit anim id.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TREND OVER TIME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Pretium tincidunt lacus nulla gravida orci a odio nullam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SLD-CHART-FOCUS-01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06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78638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11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Lorem ipsum volume by quarter, thousands</a:t>
            </a:r>
            <a:endParaRPr lang="en-US" sz="10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2331720"/>
          <a:ext cx="74980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1783080"/>
            <a:ext cx="3139135" cy="434340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69680" y="2103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E4AED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+38%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since Q4 2024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869680" y="3429000"/>
            <a:ext cx="1280160" cy="310896"/>
          </a:xfrm>
          <a:prstGeom prst="roundRect">
            <a:avLst>
              <a:gd name="adj" fmla="val 23529"/>
            </a:avLst>
          </a:prstGeom>
          <a:solidFill>
            <a:srgbClr val="D6DBFC"/>
          </a:solidFill>
          <a:ln w="9525">
            <a:solidFill>
              <a:srgbClr val="D6DB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0" y="34290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7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TAKEAWAY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388620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Odio nullam varius turpis et commodo pharetra est eros bibendum elit nec luctus magna felis sollicitudin mauris integer in mauris eu nibh euismod gravida.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KEY DRIVERS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Felis sollicitudin mauris integer in mauris eu nibh euismod gravida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SLD-3COL-01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07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576218" cy="434340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103120"/>
            <a:ext cx="658368" cy="658368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234794"/>
            <a:ext cx="395021" cy="39502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9535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4612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Exercitation ullamco laboris nisi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069080"/>
            <a:ext cx="29361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Dolor sit amet consectetur adipiscing elit sed do eiusmod tempor incididunt ut labore et dolore magna aliqua ut enim ad minim veniam quis nostrud exercitation ullamco laboris nisi ut aliquip.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07738" y="1783080"/>
            <a:ext cx="3576218" cy="434340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27778" y="2103120"/>
            <a:ext cx="658368" cy="658368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2234794"/>
            <a:ext cx="395021" cy="39502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627778" y="29535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4627778" y="324612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Qui officia deserunt mollit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627778" y="4069080"/>
            <a:ext cx="29361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Ut aliquip ex ea commodo consequat duis aute irure dolor in reprehenderit in voluptate velit esse cillum dolore eu fugiat nulla pariatur excepteur sint occaecat cupidatat non proident sunt in.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58277" y="1783080"/>
            <a:ext cx="3576218" cy="434340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478317" y="2103120"/>
            <a:ext cx="658368" cy="658368"/>
          </a:xfrm>
          <a:prstGeom prst="roundRect">
            <a:avLst>
              <a:gd name="adj" fmla="val 30000"/>
            </a:avLst>
          </a:prstGeom>
          <a:solidFill>
            <a:srgbClr val="EEF0FE"/>
          </a:solidFill>
          <a:ln w="9525">
            <a:solidFill>
              <a:srgbClr val="EEF0F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990" y="2234794"/>
            <a:ext cx="395021" cy="39502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478317" y="2953512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3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478317" y="324612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Mauris eu nibh euismod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8478317" y="4069080"/>
            <a:ext cx="29361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Sunt in culpa qui officia deserunt mollit anim id est laborum curabitur pretium tincidunt lacus nulla gravida orci a odio nullam varius turpis et commodo pharetra est eros bibendum elit.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AREAS OF OPPORTUNITY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Tempor incididunt ut labore et dolore magna aliqua ut enim 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SLD-MATRIX-01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08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1783080"/>
            <a:ext cx="6583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1801368"/>
            <a:ext cx="3273552" cy="2061972"/>
          </a:xfrm>
          <a:prstGeom prst="roundRect">
            <a:avLst>
              <a:gd name="adj" fmla="val 4435"/>
            </a:avLst>
          </a:prstGeom>
          <a:solidFill>
            <a:srgbClr val="E5F7EC"/>
          </a:solidFill>
          <a:ln w="9525">
            <a:solidFill>
              <a:srgbClr val="E5F7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0" cy="4160520"/>
          </a:xfrm>
          <a:prstGeom prst="line">
            <a:avLst/>
          </a:prstGeom>
          <a:noFill/>
          <a:ln w="12700">
            <a:solidFill>
              <a:srgbClr val="D9D9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863340"/>
            <a:ext cx="6583680" cy="0"/>
          </a:xfrm>
          <a:prstGeom prst="line">
            <a:avLst/>
          </a:prstGeom>
          <a:noFill/>
          <a:ln w="12700">
            <a:solidFill>
              <a:srgbClr val="D9D9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7A2C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Quick wins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Big bets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0005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Fill-ins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40005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Deprioritize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 rot="16200000">
            <a:off x="411480" y="37261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IMPACT 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EFFORT →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08022" y="2432304"/>
            <a:ext cx="365760" cy="365760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08022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27248" y="2973172"/>
            <a:ext cx="365760" cy="365760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2973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31536" y="2349094"/>
            <a:ext cx="365760" cy="365760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31536" y="23490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666390" y="4512564"/>
            <a:ext cx="365760" cy="365760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66390" y="45125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68189" y="4262933"/>
            <a:ext cx="365760" cy="365760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68189" y="426293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21578" y="5011826"/>
            <a:ext cx="365760" cy="365760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21578" y="50118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OPPORTUNITIES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2194560"/>
            <a:ext cx="329184" cy="32918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503920" y="21579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Labore et dolore magna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Deserunt mollit anim id est laborum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046720" y="2834640"/>
            <a:ext cx="329184" cy="32918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27980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Consequat duis aute irure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 ipsum dolor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8046720" y="3474720"/>
            <a:ext cx="329184" cy="329184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503920" y="34381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Non proident sunt in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 ea commodo consequat duis aute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046720" y="4114800"/>
            <a:ext cx="329184" cy="329184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503920" y="407822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Odio nullam varius turpis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 laborum curabitur pretium tincidunt lacus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8046720" y="4754880"/>
            <a:ext cx="329184" cy="329184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0" y="4754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503920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Nibh euismod gravida lorem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Ipsum dolor sit amet consectetur adipiscing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046720" y="5394960"/>
            <a:ext cx="329184" cy="329184"/>
          </a:xfrm>
          <a:prstGeom prst="ellipse">
            <a:avLst/>
          </a:prstGeom>
          <a:solidFill>
            <a:srgbClr val="63666A"/>
          </a:solidFill>
          <a:ln w="12700">
            <a:solidFill>
              <a:srgbClr val="63666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503920" y="5358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73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Aliqua ut enim ad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Duis aute irure dolor in reprehenderit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4AE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RECOMMENDATIONS / NEXT STEPS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76656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Ex ea commodo consequat duis aute irure dolor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[Project name] · Performance Readout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6400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SLD-RECOMMEND-01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091672" y="6400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09 / 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7295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57400"/>
            <a:ext cx="420624" cy="42062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0025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Labore et dolore magna aliqua ut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40487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Fugiat nulla pariatur excepteur sint occaecat cupidatat non proident sunt in culpa qui officia deserunt mollit anim id est laborum curabitur pretium.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57055" y="2258568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7055" y="22585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Evidence: slide 03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11277295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520440"/>
            <a:ext cx="420624" cy="42062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In voluptate velit esse cillum dolore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Felis sollicitudin mauris integer in mauris eu nibh euismod gravida lorem ipsum dolor sit amet consectetur adipiscing elit sed do eiusmod tempor.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357055" y="3721608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57055" y="3721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Evidence: slide 04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7295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D9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983480"/>
            <a:ext cx="420624" cy="420624"/>
          </a:xfrm>
          <a:prstGeom prst="ellipse">
            <a:avLst/>
          </a:prstGeom>
          <a:solidFill>
            <a:srgbClr val="2E4AED"/>
          </a:solidFill>
          <a:ln w="12700">
            <a:solidFill>
              <a:srgbClr val="2E4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2861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73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Pretium tincidunt lacus nulla gravida orci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33095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 ea commodo consequat duis aute irure dolor in reprehenderit in voluptate velit esse cillum dolore eu fugiat nulla pariatur excepteur sint.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9357055" y="5184648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ECECEA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57055" y="5184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3666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Evidence: slide 05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Readout — template</dc:title>
  <dc:subject>PptxGenJS Presentation</dc:subject>
  <dc:creator>Storyloom AI</dc:creator>
  <cp:lastModifiedBy>Storyloom AI</cp:lastModifiedBy>
  <cp:revision>1</cp:revision>
  <dcterms:created xsi:type="dcterms:W3CDTF">2026-09-26T16:18:15Z</dcterms:created>
  <dcterms:modified xsi:type="dcterms:W3CDTF">2026-09-26T16:18:15Z</dcterms:modified>
</cp:coreProperties>
</file>