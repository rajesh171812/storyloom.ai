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2E4AED"/>
            </a:solidFill>
            <a:ln w="31750" cap="flat">
              <a:solidFill>
                <a:srgbClr val="2E4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4AED"/>
              </a:solidFill>
              <a:ln w="9525" cap="flat">
                <a:solidFill>
                  <a:srgbClr val="2E4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  <c:pt idx="9">
                    <c:v>Jul</c:v>
                  </c:pt>
                  <c:pt idx="10">
                    <c:v>Aug</c:v>
                  </c:pt>
                  <c:pt idx="11">
                    <c:v>Sep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39</c:v>
                </c:pt>
                <c:pt idx="2">
                  <c:v>38</c:v>
                </c:pt>
                <c:pt idx="3">
                  <c:v>40</c:v>
                </c:pt>
                <c:pt idx="4">
                  <c:v>41</c:v>
                </c:pt>
                <c:pt idx="5">
                  <c:v>40</c:v>
                </c:pt>
                <c:pt idx="6">
                  <c:v>42</c:v>
                </c:pt>
                <c:pt idx="7">
                  <c:v>43</c:v>
                </c:pt>
                <c:pt idx="8">
                  <c:v>43</c:v>
                </c:pt>
                <c:pt idx="9">
                  <c:v>44</c:v>
                </c:pt>
                <c:pt idx="10">
                  <c:v>45</c:v>
                </c:pt>
                <c:pt idx="11">
                  <c:v>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30"/>
        </c:scaling>
        <c:delete val="0"/>
        <c:axPos val="l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2E4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Q4 '24</c:v>
                  </c:pt>
                  <c:pt idx="1">
                    <c:v>Q1 '25</c:v>
                  </c:pt>
                  <c:pt idx="2">
                    <c:v>Q2 '25</c:v>
                  </c:pt>
                  <c:pt idx="3">
                    <c:v>Q3 '25</c:v>
                  </c:pt>
                  <c:pt idx="4">
                    <c:v>Q4 '25</c:v>
                  </c:pt>
                  <c:pt idx="5">
                    <c:v>Q1 '26</c:v>
                  </c:pt>
                  <c:pt idx="6">
                    <c:v>Q2 '26</c:v>
                  </c:pt>
                  <c:pt idx="7">
                    <c:v>Q3 '26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112</c:v>
                </c:pt>
                <c:pt idx="1">
                  <c:v>118</c:v>
                </c:pt>
                <c:pt idx="2">
                  <c:v>121</c:v>
                </c:pt>
                <c:pt idx="3">
                  <c:v>119</c:v>
                </c:pt>
                <c:pt idx="4">
                  <c:v>131</c:v>
                </c:pt>
                <c:pt idx="5">
                  <c:v>138</c:v>
                </c:pt>
                <c:pt idx="6">
                  <c:v>142</c:v>
                </c:pt>
                <c:pt idx="7">
                  <c:v>155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2588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Template · lorem ipsum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Performance Readout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B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TPL-PERFORMANCE-01 · STORY-PERF-01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[Audience] · [Month Year] · Owner: [Name]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TO USE THIS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to turn this template into your deck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HOW-TO · delete before sharing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A · EDIT BY HAND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31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every lorem ipsum line and dummy number with your content.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layouts. Delete slides you have no evidence for.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real screenshots behind the grey phone screens.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4754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B · USE CLAUDE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Attach the Storyloom spec, then write: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4782312"/>
            <a:ext cx="4023360" cy="704088"/>
          </a:xfrm>
          <a:prstGeom prst="roundRect">
            <a:avLst>
              <a:gd name="adj" fmla="val 10390"/>
            </a:avLst>
          </a:prstGeom>
          <a:solidFill>
            <a:srgbClr val="ECECEA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4782312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7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TPL-PERFORMANCE-01 with STORY-PERF-01. Here is my objective, audience and data: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69164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SLIDE SEQUENCE IN THIS TEMPLATE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075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07568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74175" y="2075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42316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2423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42316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Performance at a glance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74175" y="2423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SLD-KPI-GRID-01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77063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770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770632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KPI / metric overview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174175" y="2770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311810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31181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118104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Trend over time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74175" y="31181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SLD-CHART-FOCUS-01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3465576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9320" y="34655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3465576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drivers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174175" y="3465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813048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38130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81304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Areas of opportunity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174175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416052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4160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416052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Recommendations / next steps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74175" y="4160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SLD-RECOMMEND-01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989320" y="5989320"/>
            <a:ext cx="5516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copy is lorem ipsum and every number is dummy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Elit sed do eiusmod tempor incididunt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42%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138" y="21488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44058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of 5</a:t>
            </a:r>
            <a:endParaRPr lang="en-US" sz="42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 ut aliquip ex.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2148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42197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+18 pts</a:t>
            </a:r>
            <a:endParaRPr lang="en-US" sz="42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 aute irure dolor.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85800" y="448056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51560" y="4841748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051560" y="48417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2514600" y="4480560"/>
            <a:ext cx="8625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PERFORMANCE AT A GLANCE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Laboris nisi ut aliquip ex ea commodo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SLD-KPI-GRID-01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2499284" cy="269748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176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rate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51460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46%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051560" y="33832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4728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35608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3867912"/>
            <a:ext cx="176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34% → 46% vs baseline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59404" y="1691640"/>
            <a:ext cx="2499284" cy="269748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25164" y="2057400"/>
            <a:ext cx="176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sit time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825164" y="251460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–18 days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3825164" y="33832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04" y="3447288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209212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3825164" y="3867912"/>
            <a:ext cx="176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41 → 23 days, median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33008" y="1691640"/>
            <a:ext cx="2499284" cy="269748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98768" y="2057400"/>
            <a:ext cx="176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steps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6598768" y="251460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→ 2</a:t>
            </a:r>
            <a:endParaRPr lang="en-US" sz="2600" dirty="0"/>
          </a:p>
        </p:txBody>
      </p:sp>
      <p:sp>
        <p:nvSpPr>
          <p:cNvPr id="24" name="Shape 20"/>
          <p:cNvSpPr/>
          <p:nvPr/>
        </p:nvSpPr>
        <p:spPr>
          <a:xfrm>
            <a:off x="6598768" y="33832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208" y="3447288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982816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Down (better)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6598768" y="3867912"/>
            <a:ext cx="176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Consectetur adipiscing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9006611" y="1691640"/>
            <a:ext cx="2499284" cy="269748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372371" y="2057400"/>
            <a:ext cx="176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Elit satisfaction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9372371" y="2514600"/>
            <a:ext cx="1767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4.5</a:t>
            </a:r>
            <a:endParaRPr lang="en-US" sz="2600" dirty="0"/>
          </a:p>
        </p:txBody>
      </p:sp>
      <p:sp>
        <p:nvSpPr>
          <p:cNvPr id="31" name="Shape 26"/>
          <p:cNvSpPr/>
          <p:nvPr/>
        </p:nvSpPr>
        <p:spPr>
          <a:xfrm>
            <a:off x="9372371" y="338328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3447288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756419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9372371" y="3867912"/>
            <a:ext cx="176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3.9 → 4.5 out of 5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85800" y="4663440"/>
            <a:ext cx="10820095" cy="1005840"/>
          </a:xfrm>
          <a:prstGeom prst="roundRect">
            <a:avLst>
              <a:gd name="adj" fmla="val 10909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1051560" y="4663440"/>
            <a:ext cx="100885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Definitions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 amet consectetur adipiscing elit sed do eiusmod tempor incididunt ut labore.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KPI / METRIC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Fugiat nulla pariatur excepteur sint occaecat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27432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RATE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231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46%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051560" y="338328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4728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35608" y="3383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 6 pts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39776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Q3 2026 vs Q3 2025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 deserunt mollit.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703320" y="1691640"/>
            <a:ext cx="4785055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69080" y="201168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Monthly lorem ipsum rate, %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886200" y="2377440"/>
          <a:ext cx="4419295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8762695" y="1691640"/>
            <a:ext cx="2743200" cy="4069080"/>
          </a:xfrm>
          <a:prstGeom prst="roundRect">
            <a:avLst>
              <a:gd name="adj" fmla="val 4000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128455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INSIGHT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9128455" y="24231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 aliqua ut.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9128455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9128455" y="43434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Sint occaecat cupidatat non proident sunt in culpa qui officia.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TREND OVER TIME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 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SLD-CHART-FOCUS-01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7436815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11680"/>
            <a:ext cx="6705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volume by quarter, thousands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914400" y="2377440"/>
          <a:ext cx="6979615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396935" y="1691640"/>
            <a:ext cx="3108960" cy="40690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62695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+38%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8762695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since Q4 2024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762695" y="3429000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62695" y="34290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762695" y="3931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 pharetra est eros bibendum elit nec luctus magna felis sollicitudin.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KEY DRIVERS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Felis sollicitudin mauris integer in mauris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7444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DRIVER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Exercitation ullamco laboris nisi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sit amet consectetur adipiscing elit sed do eiusmod tempor incididunt ut labore et dolore magna aliqua ut enim ad.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42" y="2174443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9698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DRIVER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Qui officia deserunt mollit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Ut aliquip ex ea commodo consequat duis aute irure dolor in reprehenderit in voluptate velit esse cillum dolore eu fugiat.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2174443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7837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DRIVER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Mauris eu nibh euismod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Sunt in culpa qui officia deserunt mollit anim id est laborum curabitur pretium tincidunt lacus nulla gravida orci a odio.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AREAS OF OPPORTUNITY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SLD-MATRIX-01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43000" y="1691640"/>
            <a:ext cx="60350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288" y="1709928"/>
            <a:ext cx="2999232" cy="1833372"/>
          </a:xfrm>
          <a:prstGeom prst="roundRect">
            <a:avLst>
              <a:gd name="adj" fmla="val 4988"/>
            </a:avLst>
          </a:prstGeom>
          <a:solidFill>
            <a:srgbClr val="E5F7EC"/>
          </a:solidFill>
          <a:ln w="9525">
            <a:solidFill>
              <a:srgbClr val="E5F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691640"/>
            <a:ext cx="0" cy="370332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543300"/>
            <a:ext cx="6035040" cy="0"/>
          </a:xfrm>
          <a:prstGeom prst="line">
            <a:avLst/>
          </a:prstGeom>
          <a:noFill/>
          <a:ln w="12700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7A2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Quick wins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Big bets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261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Fill-ins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7261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Deprioritize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548640" y="34061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 ↑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5486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EFFORT 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67128" y="2323490"/>
            <a:ext cx="365760" cy="36576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67128" y="23234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32734" y="2841955"/>
            <a:ext cx="365760" cy="36576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32734" y="28419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84648" y="2249424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84648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49931" y="4175150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49931" y="4175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43246" y="3878885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43246" y="38788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08853" y="4545482"/>
            <a:ext cx="365760" cy="365760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08853" y="454548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169164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18120" y="2130552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1812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330184" y="21031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818120" y="2740152"/>
            <a:ext cx="329184" cy="32918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18120" y="2740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330184" y="27127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818120" y="3349752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18120" y="3349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330184" y="33223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 duis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818120" y="3959352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18120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330184" y="39319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laborum curabitur pretium tincidunt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7818120" y="4568952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18120" y="4568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330184" y="45415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Ipsum dolor sit amet consectetur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7818120" y="5178552"/>
            <a:ext cx="329184" cy="329184"/>
          </a:xfrm>
          <a:prstGeom prst="ellipse">
            <a:avLst/>
          </a:prstGeom>
          <a:solidFill>
            <a:srgbClr val="63666A"/>
          </a:solidFill>
          <a:ln w="12700">
            <a:solidFill>
              <a:srgbClr val="63666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18120" y="5178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330184" y="5151120"/>
            <a:ext cx="3175711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Duis aute irure dolor in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RECOMMENDATIONS / 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 ea commodo consequat duis aute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Performance Readout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SLD-RECOMMEND-01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2828"/>
            <a:ext cx="420624" cy="42062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0528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1929384"/>
            <a:ext cx="6842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Labore et dolore magna aliqua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295144"/>
            <a:ext cx="6842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 cupidatat non proident sunt in culpa qui officia deserunt.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037015" y="2089404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37015" y="20894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Evidence: slide 03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515868"/>
            <a:ext cx="420624" cy="42062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35158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392424"/>
            <a:ext cx="6842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voluptate velit esse cillum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758184"/>
            <a:ext cx="6842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Felis sollicitudin mauris integer in mauris eu nibh euismod gravida lorem ipsum dolor sit amet.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37015" y="3552444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37015" y="35524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Evidence: slide 04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61772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4978908"/>
            <a:ext cx="420624" cy="420624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49789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4855464"/>
            <a:ext cx="68424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737360" y="5221224"/>
            <a:ext cx="6842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 ea commodo consequat duis aute irure dolor in reprehenderit in voluptate velit esse cillum.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037015" y="5015484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37015" y="50154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Evidence: slide 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Readout — template</dc:title>
  <dc:subject>PptxGenJS Presentation</dc:subject>
  <dc:creator>Storyloom AI</dc:creator>
  <cp:lastModifiedBy>Storyloom AI</cp:lastModifiedBy>
  <cp:revision>1</cp:revision>
  <dcterms:created xsi:type="dcterms:W3CDTF">2026-10-02T19:22:53Z</dcterms:created>
  <dcterms:modified xsi:type="dcterms:W3CDTF">2026-10-02T19:22:53Z</dcterms:modified>
</cp:coreProperties>
</file>