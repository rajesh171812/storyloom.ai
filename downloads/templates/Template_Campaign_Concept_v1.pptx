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Lorem</c:v>
                </c:pt>
              </c:strCache>
            </c:strRef>
          </c:tx>
          <c:spPr>
            <a:solidFill>
              <a:srgbClr val="2E4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22731"/>
                    </a:solidFill>
                    <a:latin typeface="Hanken Grotesk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Before</c:v>
                  </c:pt>
                  <c:pt idx="1">
                    <c:v>After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34</c:v>
                </c:pt>
                <c:pt idx="1">
                  <c:v>46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222731"/>
                  </a:solidFill>
                  <a:latin typeface="Hanken Grotesk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0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3666A"/>
                </a:solidFill>
                <a:latin typeface="Hanken Grotesk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D9D9D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3666A"/>
                </a:solidFill>
                <a:latin typeface="Hanken Grotesk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7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325880"/>
            <a:ext cx="2286000" cy="365760"/>
          </a:xfrm>
          <a:prstGeom prst="roundRect">
            <a:avLst>
              <a:gd name="adj" fmla="val 20000"/>
            </a:avLst>
          </a:prstGeom>
          <a:solidFill>
            <a:srgbClr val="D6DBFC"/>
          </a:solidFill>
          <a:ln w="9525">
            <a:solidFill>
              <a:srgbClr val="D6DBF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13258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0075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Template · lorem ipsum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874520"/>
            <a:ext cx="108200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Campaign / Concept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42900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6DBFC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Labore et dolore magna aliqua ut enim ad minim veniam quis nostrud exercitation ullamco.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45720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DBF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TPL-CAMPAIGN-01 · STORY-CONCEPT-01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59436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6DBFC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[Audience] · [Month Year] · Owner: [Name]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0292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4AE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HOW TO USE THIS TEMPLATE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222731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Two ways to turn this template into your deck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640080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[Project name] · Campaign / Concept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937760" y="6400800"/>
            <a:ext cx="57908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HOW-TO · delete before sharing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865815" y="640080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02 / 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475488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198424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4AE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OPTION A · EDIT BY HAND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33172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2273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Replace every lorem ipsum line and dummy number with your content.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2273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Keep the layouts. Delete slides you have no evidence for.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2273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Put real screenshots behind the grey phone screens.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85800" y="3794760"/>
            <a:ext cx="475488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9D9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408736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4AE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OPTION B · USE CLAUDE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441655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2273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Attach the Storyloom spec, then write: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1051560" y="4782312"/>
            <a:ext cx="4023360" cy="704088"/>
          </a:xfrm>
          <a:prstGeom prst="roundRect">
            <a:avLst>
              <a:gd name="adj" fmla="val 10390"/>
            </a:avLst>
          </a:prstGeom>
          <a:solidFill>
            <a:srgbClr val="ECECEA"/>
          </a:solidFill>
          <a:ln w="9525">
            <a:solidFill>
              <a:srgbClr val="D9D9D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88720" y="4782312"/>
            <a:ext cx="37490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73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Use TPL-CAMPAIGN-01 with STORY-CONCEPT-01. Here is my objective, audience and data: …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5989320" y="1691640"/>
            <a:ext cx="55165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SLIDE SEQUENCE IN THIS TEMPLATE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989320" y="2075688"/>
            <a:ext cx="411480" cy="3117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446520" y="2075688"/>
            <a:ext cx="2681935" cy="3117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73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Context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9174175" y="2075688"/>
            <a:ext cx="2331720" cy="3117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E4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SLD-STATEMENT-01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89320" y="2387415"/>
            <a:ext cx="5516575" cy="0"/>
          </a:xfrm>
          <a:prstGeom prst="line">
            <a:avLst/>
          </a:prstGeom>
          <a:noFill/>
          <a:ln w="6350">
            <a:solidFill>
              <a:srgbClr val="D9D9D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89320" y="2387415"/>
            <a:ext cx="411480" cy="3117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6446520" y="2387415"/>
            <a:ext cx="2681935" cy="3117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73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Opportunity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9174175" y="2387415"/>
            <a:ext cx="2331720" cy="3117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E4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SLD-INSIGHT-01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989320" y="2699143"/>
            <a:ext cx="5516575" cy="0"/>
          </a:xfrm>
          <a:prstGeom prst="line">
            <a:avLst/>
          </a:prstGeom>
          <a:noFill/>
          <a:ln w="6350">
            <a:solidFill>
              <a:srgbClr val="D9D9D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89320" y="2699143"/>
            <a:ext cx="411480" cy="3117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6446520" y="2699143"/>
            <a:ext cx="2681935" cy="3117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73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Audience / customer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9174175" y="2699143"/>
            <a:ext cx="2331720" cy="3117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E4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SLD-PERSONA-01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989320" y="3010870"/>
            <a:ext cx="5516575" cy="0"/>
          </a:xfrm>
          <a:prstGeom prst="line">
            <a:avLst/>
          </a:prstGeom>
          <a:noFill/>
          <a:ln w="6350">
            <a:solidFill>
              <a:srgbClr val="D9D9D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989320" y="3010870"/>
            <a:ext cx="411480" cy="3117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6446520" y="3010870"/>
            <a:ext cx="2681935" cy="3117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73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Insight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9174175" y="3010870"/>
            <a:ext cx="2331720" cy="3117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E4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SLD-QUOTE-01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989320" y="3322597"/>
            <a:ext cx="5516575" cy="0"/>
          </a:xfrm>
          <a:prstGeom prst="line">
            <a:avLst/>
          </a:prstGeom>
          <a:noFill/>
          <a:ln w="6350">
            <a:solidFill>
              <a:srgbClr val="D9D9D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989320" y="3322597"/>
            <a:ext cx="411480" cy="3117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6446520" y="3322597"/>
            <a:ext cx="2681935" cy="3117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73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Concept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9174175" y="3322597"/>
            <a:ext cx="2331720" cy="3117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E4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SLD-DEVICE-HERO-01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989320" y="3634324"/>
            <a:ext cx="5516575" cy="0"/>
          </a:xfrm>
          <a:prstGeom prst="line">
            <a:avLst/>
          </a:prstGeom>
          <a:noFill/>
          <a:ln w="6350">
            <a:solidFill>
              <a:srgbClr val="D9D9D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989320" y="3634324"/>
            <a:ext cx="411480" cy="3117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6446520" y="3634324"/>
            <a:ext cx="2681935" cy="3117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73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Experience / journey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9174175" y="3634324"/>
            <a:ext cx="2331720" cy="3117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E4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SLD-JOURNEY-01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989320" y="3946052"/>
            <a:ext cx="5516575" cy="0"/>
          </a:xfrm>
          <a:prstGeom prst="line">
            <a:avLst/>
          </a:prstGeom>
          <a:noFill/>
          <a:ln w="6350">
            <a:solidFill>
              <a:srgbClr val="D9D9D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89320" y="3946052"/>
            <a:ext cx="411480" cy="3117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6446520" y="3946052"/>
            <a:ext cx="2681935" cy="3117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73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Key touchpoints</a:t>
            </a:r>
            <a:endParaRPr lang="en-US" sz="1250" dirty="0"/>
          </a:p>
        </p:txBody>
      </p:sp>
      <p:sp>
        <p:nvSpPr>
          <p:cNvPr id="42" name="Text 40"/>
          <p:cNvSpPr txBox="1"/>
          <p:nvPr/>
        </p:nvSpPr>
        <p:spPr>
          <a:xfrm>
            <a:off x="9174175" y="3946052"/>
            <a:ext cx="2331720" cy="3117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E4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SLD-MESSAGING-01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989320" y="4257779"/>
            <a:ext cx="5516575" cy="0"/>
          </a:xfrm>
          <a:prstGeom prst="line">
            <a:avLst/>
          </a:prstGeom>
          <a:noFill/>
          <a:ln w="6350">
            <a:solidFill>
              <a:srgbClr val="D9D9D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989320" y="4257779"/>
            <a:ext cx="411480" cy="3117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6446520" y="4257779"/>
            <a:ext cx="2681935" cy="3117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73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Creative direction</a:t>
            </a:r>
            <a:endParaRPr lang="en-US" sz="1250" dirty="0"/>
          </a:p>
        </p:txBody>
      </p:sp>
      <p:sp>
        <p:nvSpPr>
          <p:cNvPr id="46" name="Text 44"/>
          <p:cNvSpPr txBox="1"/>
          <p:nvPr/>
        </p:nvSpPr>
        <p:spPr>
          <a:xfrm>
            <a:off x="9174175" y="4257779"/>
            <a:ext cx="2331720" cy="3117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E4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SLD-DEVICE-TRIO-01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5989320" y="4569506"/>
            <a:ext cx="5516575" cy="0"/>
          </a:xfrm>
          <a:prstGeom prst="line">
            <a:avLst/>
          </a:prstGeom>
          <a:noFill/>
          <a:ln w="6350">
            <a:solidFill>
              <a:srgbClr val="D9D9D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5989320" y="4569506"/>
            <a:ext cx="411480" cy="3117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</a:t>
            </a:r>
            <a:endParaRPr 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6446520" y="4569506"/>
            <a:ext cx="2681935" cy="3117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73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Supporting evidence</a:t>
            </a:r>
            <a:endParaRPr lang="en-US" sz="1250" dirty="0"/>
          </a:p>
        </p:txBody>
      </p:sp>
      <p:sp>
        <p:nvSpPr>
          <p:cNvPr id="50" name="Text 48"/>
          <p:cNvSpPr txBox="1"/>
          <p:nvPr/>
        </p:nvSpPr>
        <p:spPr>
          <a:xfrm>
            <a:off x="9174175" y="4569506"/>
            <a:ext cx="2331720" cy="3117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E4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SLD-2COL-01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5989320" y="4881233"/>
            <a:ext cx="5516575" cy="0"/>
          </a:xfrm>
          <a:prstGeom prst="line">
            <a:avLst/>
          </a:prstGeom>
          <a:noFill/>
          <a:ln w="6350">
            <a:solidFill>
              <a:srgbClr val="D9D9D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5989320" y="4881233"/>
            <a:ext cx="411480" cy="3117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endParaRPr 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6446520" y="4881233"/>
            <a:ext cx="2681935" cy="3117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73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Expected impact</a:t>
            </a:r>
            <a:endParaRPr lang="en-US" sz="1250" dirty="0"/>
          </a:p>
        </p:txBody>
      </p:sp>
      <p:sp>
        <p:nvSpPr>
          <p:cNvPr id="54" name="Text 52"/>
          <p:cNvSpPr txBox="1"/>
          <p:nvPr/>
        </p:nvSpPr>
        <p:spPr>
          <a:xfrm>
            <a:off x="9174175" y="4881233"/>
            <a:ext cx="2331720" cy="3117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E4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SLD-KPI-GRID-01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989320" y="5192961"/>
            <a:ext cx="5516575" cy="0"/>
          </a:xfrm>
          <a:prstGeom prst="line">
            <a:avLst/>
          </a:prstGeom>
          <a:noFill/>
          <a:ln w="6350">
            <a:solidFill>
              <a:srgbClr val="D9D9D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989320" y="5192961"/>
            <a:ext cx="411480" cy="3117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</a:t>
            </a:r>
            <a:endParaRPr lang="en-US" sz="1000" dirty="0"/>
          </a:p>
        </p:txBody>
      </p:sp>
      <p:sp>
        <p:nvSpPr>
          <p:cNvPr id="57" name="Text 55"/>
          <p:cNvSpPr txBox="1"/>
          <p:nvPr/>
        </p:nvSpPr>
        <p:spPr>
          <a:xfrm>
            <a:off x="6446520" y="5192961"/>
            <a:ext cx="2681935" cy="3117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73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Next steps</a:t>
            </a:r>
            <a:endParaRPr lang="en-US" sz="1250" dirty="0"/>
          </a:p>
        </p:txBody>
      </p:sp>
      <p:sp>
        <p:nvSpPr>
          <p:cNvPr id="58" name="Text 56"/>
          <p:cNvSpPr txBox="1"/>
          <p:nvPr/>
        </p:nvSpPr>
        <p:spPr>
          <a:xfrm>
            <a:off x="9174175" y="5192961"/>
            <a:ext cx="2331720" cy="3117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E4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SLD-NEXT-STEPS-01</a:t>
            </a:r>
            <a:endParaRPr lang="en-US" sz="10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5989320"/>
            <a:ext cx="55165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A846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All copy is lorem ipsum and every number is dummy data.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0292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4AE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CONTEXT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222731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Elit sed do eiusmod tempor incididunt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640080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[Project name] · Campaign / Concept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937760" y="6400800"/>
            <a:ext cx="57908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SLD-STATEMENT-01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865815" y="640080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03 / 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10820095" cy="2697480"/>
          </a:xfrm>
          <a:prstGeom prst="roundRect">
            <a:avLst>
              <a:gd name="adj" fmla="val 4746"/>
            </a:avLst>
          </a:prstGeom>
          <a:solidFill>
            <a:srgbClr val="2E4AED"/>
          </a:solidFill>
          <a:ln w="9525">
            <a:solidFill>
              <a:srgbClr val="2E4AE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43000" y="2057400"/>
            <a:ext cx="990569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Consequat duis aute irure dolor in reprehenderit in voluptate velit esse cillum dolore eu fugiat.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4754880"/>
            <a:ext cx="3423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WHY NOW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5047488"/>
            <a:ext cx="34238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2273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Dolor in reprehenderit in voluptate velit esse cillum dolore eu.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4383938" y="4754880"/>
            <a:ext cx="3423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WHAT'S CHANGED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383938" y="5047488"/>
            <a:ext cx="34238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2273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Et commodo pharetra est eros bibendum elit nec luctus magna.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8082077" y="4754880"/>
            <a:ext cx="3423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WHAT'S AT STAKE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8082077" y="5047488"/>
            <a:ext cx="34238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2273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Nisi ut aliquip ex ea commodo consequat duis aute irure.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0292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4AE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OPPORTUNITY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222731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Laboris nisi ut aliquip ex ea commodo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640080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[Project name] · Campaign / Concept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937760" y="6400800"/>
            <a:ext cx="57908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SLD-INSIGHT-01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865815" y="640080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04 / 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4846320" cy="4069080"/>
          </a:xfrm>
          <a:prstGeom prst="roundRect">
            <a:avLst>
              <a:gd name="adj" fmla="val 2697"/>
            </a:avLst>
          </a:prstGeom>
          <a:solidFill>
            <a:srgbClr val="2E4AED"/>
          </a:solidFill>
          <a:ln w="9525">
            <a:solidFill>
              <a:srgbClr val="2E4A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51560" y="2057400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EEF0FE"/>
          </a:solidFill>
          <a:ln w="9525">
            <a:solidFill>
              <a:srgbClr val="EEF0FE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1288" y="2167128"/>
            <a:ext cx="329184" cy="32918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051560" y="28346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D6DBFC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INSIGHT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1051560" y="3154680"/>
            <a:ext cx="4114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Ad minim veniam quis nostrud exercitation ullamco laboris.</a:t>
            </a:r>
            <a:endParaRPr lang="en-US" sz="2100" dirty="0"/>
          </a:p>
        </p:txBody>
      </p:sp>
      <p:sp>
        <p:nvSpPr>
          <p:cNvPr id="12" name="Text 9"/>
          <p:cNvSpPr txBox="1"/>
          <p:nvPr/>
        </p:nvSpPr>
        <p:spPr>
          <a:xfrm>
            <a:off x="1051560" y="46177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D6DBFC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IMPLICATION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1051560" y="493776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Est eros bibendum elit nec luctus magna felis sollicitudin mauris integer in.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5806440" y="1691640"/>
            <a:ext cx="5699455" cy="1173480"/>
          </a:xfrm>
          <a:prstGeom prst="roundRect">
            <a:avLst>
              <a:gd name="adj" fmla="val 9351"/>
            </a:avLst>
          </a:prstGeom>
          <a:solidFill>
            <a:srgbClr val="FFFFFF"/>
          </a:solidFill>
          <a:ln w="9525">
            <a:solidFill>
              <a:srgbClr val="D9D9D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172200" y="1856232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4AED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1 in 3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8183880" y="1856232"/>
            <a:ext cx="29562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273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Laboris nisi ut aliquip ex ea.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6172200" y="2481072"/>
            <a:ext cx="49679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EVIDENCE  Lorem · order data · n = 4,200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806440" y="3139440"/>
            <a:ext cx="5699455" cy="1173480"/>
          </a:xfrm>
          <a:prstGeom prst="roundRect">
            <a:avLst>
              <a:gd name="adj" fmla="val 9351"/>
            </a:avLst>
          </a:prstGeom>
          <a:solidFill>
            <a:srgbClr val="FFFFFF"/>
          </a:solidFill>
          <a:ln w="9525">
            <a:solidFill>
              <a:srgbClr val="D9D9D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172200" y="3304032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4AED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62%</a:t>
            </a:r>
            <a:endParaRPr lang="en-US" sz="3000" dirty="0"/>
          </a:p>
        </p:txBody>
      </p:sp>
      <p:sp>
        <p:nvSpPr>
          <p:cNvPr id="20" name="Text 17"/>
          <p:cNvSpPr txBox="1"/>
          <p:nvPr/>
        </p:nvSpPr>
        <p:spPr>
          <a:xfrm>
            <a:off x="8183880" y="3304032"/>
            <a:ext cx="29562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273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Deserunt mollit anim id est laborum.</a:t>
            </a:r>
            <a:endParaRPr lang="en-US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6172200" y="3928872"/>
            <a:ext cx="49679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EVIDENCE  Survey · online · n = 1,200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806440" y="4587240"/>
            <a:ext cx="5699455" cy="1173480"/>
          </a:xfrm>
          <a:prstGeom prst="roundRect">
            <a:avLst>
              <a:gd name="adj" fmla="val 9351"/>
            </a:avLst>
          </a:prstGeom>
          <a:solidFill>
            <a:srgbClr val="FFFFFF"/>
          </a:solidFill>
          <a:ln w="9525">
            <a:solidFill>
              <a:srgbClr val="D9D9D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172200" y="4751832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4AED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5 steps</a:t>
            </a:r>
            <a:endParaRPr lang="en-US" sz="3000" dirty="0"/>
          </a:p>
        </p:txBody>
      </p:sp>
      <p:sp>
        <p:nvSpPr>
          <p:cNvPr id="24" name="Text 21"/>
          <p:cNvSpPr txBox="1"/>
          <p:nvPr/>
        </p:nvSpPr>
        <p:spPr>
          <a:xfrm>
            <a:off x="8183880" y="4751832"/>
            <a:ext cx="29562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273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Nibh euismod gravida lorem ipsum dolor.</a:t>
            </a:r>
            <a:endParaRPr lang="en-US" sz="1350" dirty="0"/>
          </a:p>
        </p:txBody>
      </p:sp>
      <p:sp>
        <p:nvSpPr>
          <p:cNvPr id="25" name="Text 22"/>
          <p:cNvSpPr txBox="1"/>
          <p:nvPr/>
        </p:nvSpPr>
        <p:spPr>
          <a:xfrm>
            <a:off x="6172200" y="5376672"/>
            <a:ext cx="49679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EVIDENCE  Journey audit · 3 channels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0292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4AE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AUDIENCE / CUSTOMER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222731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Fugiat nulla pariatur excepteur sint occaecat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640080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[Project name] · Campaign / Concept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937760" y="6400800"/>
            <a:ext cx="57908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SLD-PERSONA-01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865815" y="640080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05 / 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3423818" cy="4069080"/>
          </a:xfrm>
          <a:prstGeom prst="roundRect">
            <a:avLst>
              <a:gd name="adj" fmla="val 3205"/>
            </a:avLst>
          </a:prstGeom>
          <a:solidFill>
            <a:srgbClr val="FFFFFF"/>
          </a:solidFill>
          <a:ln w="9525">
            <a:solidFill>
              <a:srgbClr val="D9D9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51560" y="2057400"/>
            <a:ext cx="585216" cy="585216"/>
          </a:xfrm>
          <a:prstGeom prst="roundRect">
            <a:avLst>
              <a:gd name="adj" fmla="val 30000"/>
            </a:avLst>
          </a:prstGeom>
          <a:solidFill>
            <a:srgbClr val="EEF0FE"/>
          </a:solidFill>
          <a:ln w="9525">
            <a:solidFill>
              <a:srgbClr val="EEF0FE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8603" y="2174443"/>
            <a:ext cx="351130" cy="35113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801368" y="2075688"/>
            <a:ext cx="19424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22731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Segment A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801368" y="2386584"/>
            <a:ext cx="19424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Age 45–54 · lorem ipsum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1051560" y="2834640"/>
            <a:ext cx="2692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NEEDS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1051560" y="3127248"/>
            <a:ext cx="269229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2273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Labore et dolore magna.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2273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Deserunt mollit anim id.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1051560" y="3840480"/>
            <a:ext cx="2692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BEHAVIORS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1051560" y="4133088"/>
            <a:ext cx="269229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2273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Consequat duis aute irure.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2273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Est eros bibendum elit.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1051560" y="4983480"/>
            <a:ext cx="2692298" cy="411480"/>
          </a:xfrm>
          <a:prstGeom prst="roundRect">
            <a:avLst>
              <a:gd name="adj" fmla="val 17778"/>
            </a:avLst>
          </a:prstGeom>
          <a:solidFill>
            <a:srgbClr val="ECECEA"/>
          </a:solidFill>
          <a:ln w="9525">
            <a:solidFill>
              <a:srgbClr val="ECEC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188720" y="4983480"/>
            <a:ext cx="24179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4AE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Top need: Ad minim veniam quis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383938" y="1691640"/>
            <a:ext cx="3423818" cy="4069080"/>
          </a:xfrm>
          <a:prstGeom prst="roundRect">
            <a:avLst>
              <a:gd name="adj" fmla="val 3205"/>
            </a:avLst>
          </a:prstGeom>
          <a:solidFill>
            <a:srgbClr val="FFFFFF"/>
          </a:solidFill>
          <a:ln w="9525">
            <a:solidFill>
              <a:srgbClr val="D9D9D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749698" y="2057400"/>
            <a:ext cx="585216" cy="585216"/>
          </a:xfrm>
          <a:prstGeom prst="roundRect">
            <a:avLst>
              <a:gd name="adj" fmla="val 30000"/>
            </a:avLst>
          </a:prstGeom>
          <a:solidFill>
            <a:srgbClr val="EEF0FE"/>
          </a:solidFill>
          <a:ln w="9525">
            <a:solidFill>
              <a:srgbClr val="EEF0FE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6742" y="2174443"/>
            <a:ext cx="351130" cy="35113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5499506" y="2075688"/>
            <a:ext cx="19424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22731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Segment B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5499506" y="2386584"/>
            <a:ext cx="19424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Age 55–64 · dolor sit</a:t>
            </a:r>
            <a:endParaRPr lang="en-US" sz="1050" dirty="0"/>
          </a:p>
        </p:txBody>
      </p:sp>
      <p:sp>
        <p:nvSpPr>
          <p:cNvPr id="23" name="Text 19"/>
          <p:cNvSpPr txBox="1"/>
          <p:nvPr/>
        </p:nvSpPr>
        <p:spPr>
          <a:xfrm>
            <a:off x="4749698" y="2834640"/>
            <a:ext cx="2692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NEEDS</a:t>
            </a:r>
            <a:endParaRPr lang="en-US" sz="1050" dirty="0"/>
          </a:p>
        </p:txBody>
      </p:sp>
      <p:sp>
        <p:nvSpPr>
          <p:cNvPr id="24" name="Text 20"/>
          <p:cNvSpPr txBox="1"/>
          <p:nvPr/>
        </p:nvSpPr>
        <p:spPr>
          <a:xfrm>
            <a:off x="4749698" y="3127248"/>
            <a:ext cx="269229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2273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Fugiat nulla pariatur excepteur.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2273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Nibh euismod gravida lorem.</a:t>
            </a:r>
            <a:endParaRPr lang="en-US" sz="1150" dirty="0"/>
          </a:p>
        </p:txBody>
      </p:sp>
      <p:sp>
        <p:nvSpPr>
          <p:cNvPr id="25" name="Text 21"/>
          <p:cNvSpPr txBox="1"/>
          <p:nvPr/>
        </p:nvSpPr>
        <p:spPr>
          <a:xfrm>
            <a:off x="4749698" y="3840480"/>
            <a:ext cx="2692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BEHAVIORS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4749698" y="4133088"/>
            <a:ext cx="269229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2273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Pretium tincidunt lacus nulla.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2273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Aliqua ut enim ad.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4749698" y="4983480"/>
            <a:ext cx="2692298" cy="411480"/>
          </a:xfrm>
          <a:prstGeom prst="roundRect">
            <a:avLst>
              <a:gd name="adj" fmla="val 17778"/>
            </a:avLst>
          </a:prstGeom>
          <a:solidFill>
            <a:srgbClr val="ECECEA"/>
          </a:solidFill>
          <a:ln w="9525">
            <a:solidFill>
              <a:srgbClr val="ECECEA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4886858" y="4983480"/>
            <a:ext cx="24179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4AE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Top need: Pretium tincidunt lacus nulla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8082077" y="1691640"/>
            <a:ext cx="3423818" cy="4069080"/>
          </a:xfrm>
          <a:prstGeom prst="roundRect">
            <a:avLst>
              <a:gd name="adj" fmla="val 3205"/>
            </a:avLst>
          </a:prstGeom>
          <a:solidFill>
            <a:srgbClr val="FFFFFF"/>
          </a:solidFill>
          <a:ln w="9525">
            <a:solidFill>
              <a:srgbClr val="D9D9D6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8447837" y="2057400"/>
            <a:ext cx="585216" cy="585216"/>
          </a:xfrm>
          <a:prstGeom prst="roundRect">
            <a:avLst>
              <a:gd name="adj" fmla="val 30000"/>
            </a:avLst>
          </a:prstGeom>
          <a:solidFill>
            <a:srgbClr val="EEF0FE"/>
          </a:solidFill>
          <a:ln w="9525">
            <a:solidFill>
              <a:srgbClr val="EEF0FE"/>
            </a:solidFill>
            <a:prstDash val="solid"/>
          </a:ln>
        </p:spPr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4880" y="2174443"/>
            <a:ext cx="351130" cy="351130"/>
          </a:xfrm>
          <a:prstGeom prst="rect">
            <a:avLst/>
          </a:prstGeom>
        </p:spPr>
      </p:pic>
      <p:sp>
        <p:nvSpPr>
          <p:cNvPr id="32" name="Text 27"/>
          <p:cNvSpPr txBox="1"/>
          <p:nvPr/>
        </p:nvSpPr>
        <p:spPr>
          <a:xfrm>
            <a:off x="9197645" y="2075688"/>
            <a:ext cx="19424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22731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Segment C</a:t>
            </a:r>
            <a:endParaRPr lang="en-US" sz="1500" dirty="0"/>
          </a:p>
        </p:txBody>
      </p:sp>
      <p:sp>
        <p:nvSpPr>
          <p:cNvPr id="33" name="Text 28"/>
          <p:cNvSpPr txBox="1"/>
          <p:nvPr/>
        </p:nvSpPr>
        <p:spPr>
          <a:xfrm>
            <a:off x="9197645" y="2386584"/>
            <a:ext cx="19424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Age 65–75 · amet elit</a:t>
            </a:r>
            <a:endParaRPr lang="en-US" sz="1050" dirty="0"/>
          </a:p>
        </p:txBody>
      </p:sp>
      <p:sp>
        <p:nvSpPr>
          <p:cNvPr id="34" name="Text 29"/>
          <p:cNvSpPr txBox="1"/>
          <p:nvPr/>
        </p:nvSpPr>
        <p:spPr>
          <a:xfrm>
            <a:off x="8447837" y="2834640"/>
            <a:ext cx="2692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NEEDS</a:t>
            </a:r>
            <a:endParaRPr lang="en-US" sz="1050" dirty="0"/>
          </a:p>
        </p:txBody>
      </p:sp>
      <p:sp>
        <p:nvSpPr>
          <p:cNvPr id="35" name="Text 30"/>
          <p:cNvSpPr txBox="1"/>
          <p:nvPr/>
        </p:nvSpPr>
        <p:spPr>
          <a:xfrm>
            <a:off x="8447837" y="3127248"/>
            <a:ext cx="269229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2273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Est eros bibendum elit.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2273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 ea commodo consequat.</a:t>
            </a:r>
            <a:endParaRPr lang="en-US" sz="1150" dirty="0"/>
          </a:p>
        </p:txBody>
      </p:sp>
      <p:sp>
        <p:nvSpPr>
          <p:cNvPr id="36" name="Text 31"/>
          <p:cNvSpPr txBox="1"/>
          <p:nvPr/>
        </p:nvSpPr>
        <p:spPr>
          <a:xfrm>
            <a:off x="8447837" y="3840480"/>
            <a:ext cx="2692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BEHAVIORS</a:t>
            </a:r>
            <a:endParaRPr lang="en-US" sz="1050" dirty="0"/>
          </a:p>
        </p:txBody>
      </p:sp>
      <p:sp>
        <p:nvSpPr>
          <p:cNvPr id="37" name="Text 32"/>
          <p:cNvSpPr txBox="1"/>
          <p:nvPr/>
        </p:nvSpPr>
        <p:spPr>
          <a:xfrm>
            <a:off x="8447837" y="4133088"/>
            <a:ext cx="269229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2273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Amet consectetur adipiscing elit.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2273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Sint occaecat cupidatat non.</a:t>
            </a:r>
            <a:endParaRPr lang="en-US" sz="1150" dirty="0"/>
          </a:p>
        </p:txBody>
      </p:sp>
      <p:sp>
        <p:nvSpPr>
          <p:cNvPr id="38" name="Shape 33"/>
          <p:cNvSpPr/>
          <p:nvPr/>
        </p:nvSpPr>
        <p:spPr>
          <a:xfrm>
            <a:off x="8447837" y="4983480"/>
            <a:ext cx="2692298" cy="411480"/>
          </a:xfrm>
          <a:prstGeom prst="roundRect">
            <a:avLst>
              <a:gd name="adj" fmla="val 17778"/>
            </a:avLst>
          </a:prstGeom>
          <a:solidFill>
            <a:srgbClr val="ECECEA"/>
          </a:solidFill>
          <a:ln w="9525">
            <a:solidFill>
              <a:srgbClr val="ECECEA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8584997" y="4983480"/>
            <a:ext cx="24179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4AE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Top need: Aliqua ut enim ad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0292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4AE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INSIGHT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222731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Pretium tincidunt lacus nulla gravida orci 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640080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[Project name] · Campaign / Concept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937760" y="6400800"/>
            <a:ext cx="57908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SLD-QUOTE-01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865815" y="640080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06 / 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3423818" cy="4069080"/>
          </a:xfrm>
          <a:prstGeom prst="roundRect">
            <a:avLst>
              <a:gd name="adj" fmla="val 3205"/>
            </a:avLst>
          </a:prstGeom>
          <a:solidFill>
            <a:srgbClr val="FFFFFF"/>
          </a:solidFill>
          <a:ln w="9525">
            <a:solidFill>
              <a:srgbClr val="D9D9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51560" y="2057400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EEF0FE"/>
          </a:solidFill>
          <a:ln w="9525">
            <a:solidFill>
              <a:srgbClr val="EEF0FE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2148840"/>
            <a:ext cx="274320" cy="27432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051560" y="2697480"/>
            <a:ext cx="26922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22731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“Labore et dolore magna aliqua ut enim ad minim veniam quis nostrud exercitation ullamco laboris.”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1051560" y="4206240"/>
            <a:ext cx="2692298" cy="0"/>
          </a:xfrm>
          <a:prstGeom prst="line">
            <a:avLst/>
          </a:prstGeom>
          <a:noFill/>
          <a:ln w="9525">
            <a:solidFill>
              <a:srgbClr val="D9D9D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51560" y="4343400"/>
            <a:ext cx="26922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22731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Segment A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051560" y="4654296"/>
            <a:ext cx="26922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Age 45–64 · interview · 2025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1051560" y="4983480"/>
            <a:ext cx="2692298" cy="411480"/>
          </a:xfrm>
          <a:prstGeom prst="roundRect">
            <a:avLst>
              <a:gd name="adj" fmla="val 17778"/>
            </a:avLst>
          </a:prstGeom>
          <a:solidFill>
            <a:srgbClr val="ECECEA"/>
          </a:solidFill>
          <a:ln w="9525">
            <a:solidFill>
              <a:srgbClr val="ECECE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88720" y="4983480"/>
            <a:ext cx="24179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4AE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Theme: Non proident sunt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383938" y="1691640"/>
            <a:ext cx="3423818" cy="4069080"/>
          </a:xfrm>
          <a:prstGeom prst="roundRect">
            <a:avLst>
              <a:gd name="adj" fmla="val 3205"/>
            </a:avLst>
          </a:prstGeom>
          <a:solidFill>
            <a:srgbClr val="FFFFFF"/>
          </a:solidFill>
          <a:ln w="9525">
            <a:solidFill>
              <a:srgbClr val="D9D9D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749698" y="2057400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EEF0FE"/>
          </a:solidFill>
          <a:ln w="9525">
            <a:solidFill>
              <a:srgbClr val="EEF0FE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1138" y="2148840"/>
            <a:ext cx="274320" cy="27432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4749698" y="2697480"/>
            <a:ext cx="26922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22731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“Non proident sunt in culpa qui officia deserunt mollit anim id est laborum curabitur pretium.”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4749698" y="4206240"/>
            <a:ext cx="2692298" cy="0"/>
          </a:xfrm>
          <a:prstGeom prst="line">
            <a:avLst/>
          </a:prstGeom>
          <a:noFill/>
          <a:ln w="9525">
            <a:solidFill>
              <a:srgbClr val="D9D9D6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4749698" y="4343400"/>
            <a:ext cx="26922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22731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Segment B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4749698" y="4654296"/>
            <a:ext cx="26922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Age 45–64 · interview · 2026</a:t>
            </a:r>
            <a:endParaRPr 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4749698" y="4983480"/>
            <a:ext cx="2692298" cy="411480"/>
          </a:xfrm>
          <a:prstGeom prst="roundRect">
            <a:avLst>
              <a:gd name="adj" fmla="val 17778"/>
            </a:avLst>
          </a:prstGeom>
          <a:solidFill>
            <a:srgbClr val="ECECEA"/>
          </a:solidFill>
          <a:ln w="9525">
            <a:solidFill>
              <a:srgbClr val="ECECEA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886858" y="4983480"/>
            <a:ext cx="24179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4AE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Theme: Felis sollicitudin mauris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8082077" y="1691640"/>
            <a:ext cx="3423818" cy="4069080"/>
          </a:xfrm>
          <a:prstGeom prst="roundRect">
            <a:avLst>
              <a:gd name="adj" fmla="val 3205"/>
            </a:avLst>
          </a:prstGeom>
          <a:solidFill>
            <a:srgbClr val="FFFFFF"/>
          </a:solidFill>
          <a:ln w="9525">
            <a:solidFill>
              <a:srgbClr val="D9D9D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447837" y="2057400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EEF0FE"/>
          </a:solidFill>
          <a:ln w="9525">
            <a:solidFill>
              <a:srgbClr val="EEF0FE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9277" y="2148840"/>
            <a:ext cx="274320" cy="274320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8447837" y="2697480"/>
            <a:ext cx="26922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22731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“Nibh euismod gravida lorem ipsum dolor sit amet consectetur adipiscing elit sed do eiusmod tempor.”</a:t>
            </a:r>
            <a:endParaRPr lang="en-US" sz="1600" dirty="0"/>
          </a:p>
        </p:txBody>
      </p:sp>
      <p:sp>
        <p:nvSpPr>
          <p:cNvPr id="29" name="Shape 24"/>
          <p:cNvSpPr/>
          <p:nvPr/>
        </p:nvSpPr>
        <p:spPr>
          <a:xfrm>
            <a:off x="8447837" y="4206240"/>
            <a:ext cx="2692298" cy="0"/>
          </a:xfrm>
          <a:prstGeom prst="line">
            <a:avLst/>
          </a:prstGeom>
          <a:noFill/>
          <a:ln w="9525">
            <a:solidFill>
              <a:srgbClr val="D9D9D6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8447837" y="4343400"/>
            <a:ext cx="26922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22731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Segment C</a:t>
            </a:r>
            <a:endParaRPr lang="en-US" sz="1500" dirty="0"/>
          </a:p>
        </p:txBody>
      </p:sp>
      <p:sp>
        <p:nvSpPr>
          <p:cNvPr id="31" name="Text 26"/>
          <p:cNvSpPr txBox="1"/>
          <p:nvPr/>
        </p:nvSpPr>
        <p:spPr>
          <a:xfrm>
            <a:off x="8447837" y="4654296"/>
            <a:ext cx="26922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Age 45–64 · interview · 2026</a:t>
            </a:r>
            <a:endParaRPr lang="en-US" sz="1050" dirty="0"/>
          </a:p>
        </p:txBody>
      </p:sp>
      <p:sp>
        <p:nvSpPr>
          <p:cNvPr id="32" name="Shape 27"/>
          <p:cNvSpPr/>
          <p:nvPr/>
        </p:nvSpPr>
        <p:spPr>
          <a:xfrm>
            <a:off x="8447837" y="4983480"/>
            <a:ext cx="2692298" cy="411480"/>
          </a:xfrm>
          <a:prstGeom prst="roundRect">
            <a:avLst>
              <a:gd name="adj" fmla="val 17778"/>
            </a:avLst>
          </a:prstGeom>
          <a:solidFill>
            <a:srgbClr val="ECECEA"/>
          </a:solidFill>
          <a:ln w="9525">
            <a:solidFill>
              <a:srgbClr val="ECECEA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8584997" y="4983480"/>
            <a:ext cx="24179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4AE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Theme: Nostrud exercitation ullamco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0292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4AE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CONCEPT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222731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Felis sollicitudin mauris integer in mauris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640080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[Project name] · Campaign / Concept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937760" y="6400800"/>
            <a:ext cx="57908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SLD-DEVICE-HERO-01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865815" y="640080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07 / 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9311335" y="475488"/>
            <a:ext cx="2194560" cy="329184"/>
          </a:xfrm>
          <a:prstGeom prst="roundRect">
            <a:avLst>
              <a:gd name="adj" fmla="val 22222"/>
            </a:avLst>
          </a:prstGeom>
          <a:solidFill>
            <a:srgbClr val="D6DBFC"/>
          </a:solidFill>
          <a:ln w="9525">
            <a:solidFill>
              <a:srgbClr val="D6DBF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11335" y="47548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0075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[Concept name]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1426997" y="1780346"/>
            <a:ext cx="1835359" cy="3891261"/>
          </a:xfrm>
          <a:prstGeom prst="roundRect">
            <a:avLst>
              <a:gd name="adj" fmla="val 14000"/>
            </a:avLst>
          </a:prstGeom>
          <a:solidFill>
            <a:srgbClr val="ECECEA"/>
          </a:solidFill>
          <a:ln w="9525">
            <a:solidFill>
              <a:srgbClr val="ECEC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518437" y="3451657"/>
            <a:ext cx="16524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2273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Product screen</a:t>
            </a:r>
            <a:endParaRPr lang="en-US" sz="13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Screenshot goes here</a:t>
            </a:r>
            <a:endParaRPr lang="en-US" sz="135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5880" y="1691640"/>
            <a:ext cx="2034540" cy="406908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4366260" y="2057400"/>
            <a:ext cx="329184" cy="329184"/>
          </a:xfrm>
          <a:prstGeom prst="ellipse">
            <a:avLst/>
          </a:prstGeom>
          <a:solidFill>
            <a:srgbClr val="2E4AED"/>
          </a:solidFill>
          <a:ln w="12700">
            <a:solidFill>
              <a:srgbClr val="2E4AED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366260" y="2057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878324" y="2039112"/>
            <a:ext cx="66275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22731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Ad minim veniam quis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4878324" y="2386584"/>
            <a:ext cx="662757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Consequat duis aute irure dolor in reprehenderit in voluptate velit esse cillum.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4366260" y="3337560"/>
            <a:ext cx="329184" cy="329184"/>
          </a:xfrm>
          <a:prstGeom prst="ellipse">
            <a:avLst/>
          </a:prstGeom>
          <a:solidFill>
            <a:srgbClr val="2E4AED"/>
          </a:solidFill>
          <a:ln w="12700">
            <a:solidFill>
              <a:srgbClr val="2E4AED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366260" y="3337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4878324" y="3319272"/>
            <a:ext cx="66275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22731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Non proident sunt in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4878324" y="3666744"/>
            <a:ext cx="662757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Odio nullam varius turpis et commodo pharetra est eros bibendum elit nec.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4366260" y="4617720"/>
            <a:ext cx="329184" cy="329184"/>
          </a:xfrm>
          <a:prstGeom prst="ellipse">
            <a:avLst/>
          </a:prstGeom>
          <a:solidFill>
            <a:srgbClr val="2E4AED"/>
          </a:solidFill>
          <a:ln w="12700">
            <a:solidFill>
              <a:srgbClr val="2E4AED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366260" y="4617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4878324" y="4599432"/>
            <a:ext cx="66275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22731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Felis sollicitudin mauris integer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4878324" y="4946904"/>
            <a:ext cx="662757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Aliqua ut enim ad minim veniam quis nostrud exercitation ullamco laboris nisi.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0292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4AE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EXPERIENCE / JOURNEY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222731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Tempor incididunt ut labore et dolore magna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640080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[Project name] · Campaign / Concept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937760" y="6400800"/>
            <a:ext cx="57908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SLD-JOURNEY-01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865815" y="640080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08 / 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148840" y="1691640"/>
            <a:ext cx="1725107" cy="640080"/>
          </a:xfrm>
          <a:prstGeom prst="roundRect">
            <a:avLst>
              <a:gd name="adj" fmla="val 11429"/>
            </a:avLst>
          </a:prstGeom>
          <a:solidFill>
            <a:srgbClr val="2E4AED"/>
          </a:solidFill>
          <a:ln w="9525">
            <a:solidFill>
              <a:srgbClr val="2E4AE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295144" y="1691640"/>
            <a:ext cx="150565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Stage 1 · Ad</a:t>
            </a:r>
            <a:endParaRPr lang="en-US" sz="1150" dirty="0"/>
          </a:p>
          <a:p>
            <a:pPr indent="0" marL="0">
              <a:buNone/>
            </a:pPr>
            <a:r>
              <a:rPr lang="en-US" sz="1050" dirty="0">
                <a:solidFill>
                  <a:srgbClr val="D6DBFC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T–45 days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056827" y="1691640"/>
            <a:ext cx="1725107" cy="640080"/>
          </a:xfrm>
          <a:prstGeom prst="roundRect">
            <a:avLst>
              <a:gd name="adj" fmla="val 11429"/>
            </a:avLst>
          </a:prstGeom>
          <a:solidFill>
            <a:srgbClr val="2E4AED"/>
          </a:solidFill>
          <a:ln w="9525">
            <a:solidFill>
              <a:srgbClr val="2E4AE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203131" y="1691640"/>
            <a:ext cx="150565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Stage 2 · Laboris</a:t>
            </a:r>
            <a:endParaRPr lang="en-US" sz="1150" dirty="0"/>
          </a:p>
          <a:p>
            <a:pPr indent="0" marL="0">
              <a:buNone/>
            </a:pPr>
            <a:r>
              <a:rPr lang="en-US" sz="1050" dirty="0">
                <a:solidFill>
                  <a:srgbClr val="D6DBFC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T–30 days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964814" y="1691640"/>
            <a:ext cx="1725107" cy="640080"/>
          </a:xfrm>
          <a:prstGeom prst="roundRect">
            <a:avLst>
              <a:gd name="adj" fmla="val 11429"/>
            </a:avLst>
          </a:prstGeom>
          <a:solidFill>
            <a:srgbClr val="2E4AED"/>
          </a:solidFill>
          <a:ln w="9525">
            <a:solidFill>
              <a:srgbClr val="2E4AE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111118" y="1691640"/>
            <a:ext cx="150565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Stage 3 · Consequat</a:t>
            </a:r>
            <a:endParaRPr lang="en-US" sz="1150" dirty="0"/>
          </a:p>
          <a:p>
            <a:pPr indent="0" marL="0">
              <a:buNone/>
            </a:pPr>
            <a:r>
              <a:rPr lang="en-US" sz="1050" dirty="0">
                <a:solidFill>
                  <a:srgbClr val="D6DBFC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T–0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872801" y="1691640"/>
            <a:ext cx="1725107" cy="640080"/>
          </a:xfrm>
          <a:prstGeom prst="roundRect">
            <a:avLst>
              <a:gd name="adj" fmla="val 11429"/>
            </a:avLst>
          </a:prstGeom>
          <a:solidFill>
            <a:srgbClr val="2E4AED"/>
          </a:solidFill>
          <a:ln w="9525">
            <a:solidFill>
              <a:srgbClr val="2E4AE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19105" y="1691640"/>
            <a:ext cx="150565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Stage 4 · In</a:t>
            </a:r>
            <a:endParaRPr lang="en-US" sz="1150" dirty="0"/>
          </a:p>
          <a:p>
            <a:pPr indent="0" marL="0">
              <a:buNone/>
            </a:pPr>
            <a:r>
              <a:rPr lang="en-US" sz="1050" dirty="0">
                <a:solidFill>
                  <a:srgbClr val="D6DBFC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+3 to +10 days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9780788" y="1691640"/>
            <a:ext cx="1725107" cy="640080"/>
          </a:xfrm>
          <a:prstGeom prst="roundRect">
            <a:avLst>
              <a:gd name="adj" fmla="val 11429"/>
            </a:avLst>
          </a:prstGeom>
          <a:solidFill>
            <a:srgbClr val="2E4AED"/>
          </a:solidFill>
          <a:ln w="9525">
            <a:solidFill>
              <a:srgbClr val="2E4AE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927092" y="1691640"/>
            <a:ext cx="150565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Stage 5 · Fugiat</a:t>
            </a:r>
            <a:endParaRPr lang="en-US" sz="1150" dirty="0"/>
          </a:p>
          <a:p>
            <a:pPr indent="0" marL="0">
              <a:buNone/>
            </a:pPr>
            <a:r>
              <a:rPr lang="en-US" sz="1050" dirty="0">
                <a:solidFill>
                  <a:srgbClr val="D6DBFC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+14 days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251460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Channel moment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148840" y="2514600"/>
            <a:ext cx="1725107" cy="41148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5875">
            <a:solidFill>
              <a:srgbClr val="2E4AE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95144" y="2647188"/>
            <a:ext cx="146304" cy="146304"/>
          </a:xfrm>
          <a:prstGeom prst="ellipse">
            <a:avLst/>
          </a:prstGeom>
          <a:solidFill>
            <a:srgbClr val="2E4AED"/>
          </a:solidFill>
          <a:ln w="12700">
            <a:solidFill>
              <a:srgbClr val="2E4AE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532888" y="2514600"/>
            <a:ext cx="126790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4AE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Email  </a:t>
            </a:r>
            <a:pPr indent="0" marL="0">
              <a:buNone/>
            </a:pPr>
            <a:r>
              <a:rPr lang="en-US" sz="1050" dirty="0">
                <a:solidFill>
                  <a:srgbClr val="22273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Laboris nisi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056827" y="2514600"/>
            <a:ext cx="1725107" cy="41148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5875">
            <a:solidFill>
              <a:srgbClr val="00007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03131" y="2647188"/>
            <a:ext cx="146304" cy="146304"/>
          </a:xfrm>
          <a:prstGeom prst="ellipse">
            <a:avLst/>
          </a:prstGeom>
          <a:solidFill>
            <a:srgbClr val="000075"/>
          </a:solidFill>
          <a:ln w="12700">
            <a:solidFill>
              <a:srgbClr val="00007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440875" y="2514600"/>
            <a:ext cx="126790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75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SMS  </a:t>
            </a:r>
            <a:pPr indent="0" marL="0">
              <a:buNone/>
            </a:pPr>
            <a:r>
              <a:rPr lang="en-US" sz="1050" dirty="0">
                <a:solidFill>
                  <a:srgbClr val="22273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Fugiat nulla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964814" y="2514600"/>
            <a:ext cx="1725107" cy="41148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5875">
            <a:solidFill>
              <a:srgbClr val="B0412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11118" y="2647188"/>
            <a:ext cx="146304" cy="146304"/>
          </a:xfrm>
          <a:prstGeom prst="ellipse">
            <a:avLst/>
          </a:prstGeom>
          <a:solidFill>
            <a:srgbClr val="B0412D"/>
          </a:solidFill>
          <a:ln w="12700">
            <a:solidFill>
              <a:srgbClr val="B0412D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348862" y="2514600"/>
            <a:ext cx="126790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0412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RCS  </a:t>
            </a:r>
            <a:pPr indent="0" marL="0">
              <a:buNone/>
            </a:pPr>
            <a:r>
              <a:rPr lang="en-US" sz="1050" dirty="0">
                <a:solidFill>
                  <a:srgbClr val="22273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Pretium tincidunt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872801" y="2514600"/>
            <a:ext cx="1725107" cy="41148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5875">
            <a:solidFill>
              <a:srgbClr val="00007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19105" y="2647188"/>
            <a:ext cx="146304" cy="146304"/>
          </a:xfrm>
          <a:prstGeom prst="ellipse">
            <a:avLst/>
          </a:prstGeom>
          <a:solidFill>
            <a:srgbClr val="000075"/>
          </a:solidFill>
          <a:ln w="12700">
            <a:solidFill>
              <a:srgbClr val="000075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56849" y="2514600"/>
            <a:ext cx="126790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75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SMS  </a:t>
            </a:r>
            <a:pPr indent="0" marL="0">
              <a:buNone/>
            </a:pPr>
            <a:r>
              <a:rPr lang="en-US" sz="1050" dirty="0">
                <a:solidFill>
                  <a:srgbClr val="22273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Felis sollicitudin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9780788" y="2514600"/>
            <a:ext cx="1725107" cy="41148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5875">
            <a:solidFill>
              <a:srgbClr val="2E4AE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927092" y="2647188"/>
            <a:ext cx="146304" cy="146304"/>
          </a:xfrm>
          <a:prstGeom prst="ellipse">
            <a:avLst/>
          </a:prstGeom>
          <a:solidFill>
            <a:srgbClr val="2E4AED"/>
          </a:solidFill>
          <a:ln w="12700">
            <a:solidFill>
              <a:srgbClr val="2E4AED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0164836" y="2514600"/>
            <a:ext cx="126790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4AE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Email  </a:t>
            </a:r>
            <a:pPr indent="0" marL="0">
              <a:buNone/>
            </a:pPr>
            <a:r>
              <a:rPr lang="en-US" sz="1050" dirty="0">
                <a:solidFill>
                  <a:srgbClr val="22273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Tempor incididunt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685800" y="310896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the customer does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148840" y="3108960"/>
            <a:ext cx="1725107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D9D9D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295144" y="3236976"/>
            <a:ext cx="1432499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73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voluptate velit esse cillum.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4056827" y="3108960"/>
            <a:ext cx="1725107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D9D9D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203131" y="3236976"/>
            <a:ext cx="1432499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73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Fugiat nulla pariatur excepteur sint.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5964814" y="3108960"/>
            <a:ext cx="1725107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D9D9D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111118" y="3236976"/>
            <a:ext cx="1432499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73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Non proident sunt in culpa.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7872801" y="3108960"/>
            <a:ext cx="1725107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D9D9D6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019105" y="3236976"/>
            <a:ext cx="1432499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73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Deserunt mollit anim id est.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9780788" y="3108960"/>
            <a:ext cx="1725107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D9D9D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9927092" y="3236976"/>
            <a:ext cx="1432499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73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Pretium tincidunt lacus nulla gravida.</a:t>
            </a:r>
            <a:endParaRPr lang="en-US" sz="1150" dirty="0"/>
          </a:p>
        </p:txBody>
      </p:sp>
      <p:sp>
        <p:nvSpPr>
          <p:cNvPr id="44" name="Text 42"/>
          <p:cNvSpPr txBox="1"/>
          <p:nvPr/>
        </p:nvSpPr>
        <p:spPr>
          <a:xfrm>
            <a:off x="685800" y="406908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How they feel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2148840" y="4069080"/>
            <a:ext cx="9357055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D9D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V="1">
            <a:off x="3011394" y="4355104"/>
            <a:ext cx="1907987" cy="28529"/>
          </a:xfrm>
          <a:prstGeom prst="line">
            <a:avLst/>
          </a:prstGeom>
          <a:noFill/>
          <a:ln w="25400">
            <a:solidFill>
              <a:srgbClr val="007A2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V="1">
            <a:off x="4919381" y="4324198"/>
            <a:ext cx="1907987" cy="30907"/>
          </a:xfrm>
          <a:prstGeom prst="line">
            <a:avLst/>
          </a:prstGeom>
          <a:noFill/>
          <a:ln w="25400">
            <a:solidFill>
              <a:srgbClr val="007A2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827368" y="4324198"/>
            <a:ext cx="1907987" cy="35662"/>
          </a:xfrm>
          <a:prstGeom prst="line">
            <a:avLst/>
          </a:prstGeom>
          <a:noFill/>
          <a:ln w="25400">
            <a:solidFill>
              <a:srgbClr val="007A2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 flipV="1">
            <a:off x="8735355" y="4312310"/>
            <a:ext cx="1907987" cy="47549"/>
          </a:xfrm>
          <a:prstGeom prst="line">
            <a:avLst/>
          </a:prstGeom>
          <a:noFill/>
          <a:ln w="25400">
            <a:solidFill>
              <a:srgbClr val="007A2C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929098" y="4301338"/>
            <a:ext cx="164592" cy="164592"/>
          </a:xfrm>
          <a:prstGeom prst="ellipse">
            <a:avLst/>
          </a:prstGeom>
          <a:solidFill>
            <a:srgbClr val="007A2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148840" y="4502506"/>
            <a:ext cx="172510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Informed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4837085" y="4272808"/>
            <a:ext cx="164592" cy="164592"/>
          </a:xfrm>
          <a:prstGeom prst="ellipse">
            <a:avLst/>
          </a:prstGeom>
          <a:solidFill>
            <a:srgbClr val="007A2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4056827" y="4473976"/>
            <a:ext cx="172510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Ready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6745072" y="4241902"/>
            <a:ext cx="164592" cy="164592"/>
          </a:xfrm>
          <a:prstGeom prst="ellipse">
            <a:avLst/>
          </a:prstGeom>
          <a:solidFill>
            <a:srgbClr val="007A2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964814" y="4443070"/>
            <a:ext cx="172510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control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8653059" y="4277563"/>
            <a:ext cx="164592" cy="164592"/>
          </a:xfrm>
          <a:prstGeom prst="ellipse">
            <a:avLst/>
          </a:prstGeom>
          <a:solidFill>
            <a:srgbClr val="007A2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7872801" y="4478731"/>
            <a:ext cx="172510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Supported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10561046" y="4230014"/>
            <a:ext cx="164592" cy="164592"/>
          </a:xfrm>
          <a:prstGeom prst="ellipse">
            <a:avLst/>
          </a:prstGeom>
          <a:solidFill>
            <a:srgbClr val="007A2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9780788" y="4431182"/>
            <a:ext cx="172510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Reassured</a:t>
            </a:r>
            <a:endParaRPr lang="en-US" sz="1050" dirty="0"/>
          </a:p>
        </p:txBody>
      </p:sp>
      <p:sp>
        <p:nvSpPr>
          <p:cNvPr id="60" name="Text 58"/>
          <p:cNvSpPr txBox="1"/>
          <p:nvPr/>
        </p:nvSpPr>
        <p:spPr>
          <a:xfrm>
            <a:off x="685800" y="516636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changes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2148840" y="5166360"/>
            <a:ext cx="1725107" cy="594360"/>
          </a:xfrm>
          <a:prstGeom prst="roundRect">
            <a:avLst>
              <a:gd name="adj" fmla="val 12308"/>
            </a:avLst>
          </a:prstGeom>
          <a:solidFill>
            <a:srgbClr val="E5F7EC"/>
          </a:solidFill>
          <a:ln w="9525">
            <a:solidFill>
              <a:srgbClr val="E5F7EC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2295144" y="5294376"/>
            <a:ext cx="1432499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73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Nibh euismod gravida lorem.</a:t>
            </a:r>
            <a:endParaRPr lang="en-US" sz="1150" dirty="0"/>
          </a:p>
        </p:txBody>
      </p:sp>
      <p:sp>
        <p:nvSpPr>
          <p:cNvPr id="63" name="Shape 61"/>
          <p:cNvSpPr/>
          <p:nvPr/>
        </p:nvSpPr>
        <p:spPr>
          <a:xfrm>
            <a:off x="4056827" y="5166360"/>
            <a:ext cx="1725107" cy="594360"/>
          </a:xfrm>
          <a:prstGeom prst="roundRect">
            <a:avLst>
              <a:gd name="adj" fmla="val 12308"/>
            </a:avLst>
          </a:prstGeom>
          <a:solidFill>
            <a:srgbClr val="E5F7EC"/>
          </a:solidFill>
          <a:ln w="9525">
            <a:solidFill>
              <a:srgbClr val="E5F7EC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4203131" y="5294376"/>
            <a:ext cx="1432499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73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Amet consectetur adipiscing elit.</a:t>
            </a:r>
            <a:endParaRPr lang="en-US" sz="1150" dirty="0"/>
          </a:p>
        </p:txBody>
      </p:sp>
      <p:sp>
        <p:nvSpPr>
          <p:cNvPr id="65" name="Shape 63"/>
          <p:cNvSpPr/>
          <p:nvPr/>
        </p:nvSpPr>
        <p:spPr>
          <a:xfrm>
            <a:off x="5964814" y="5166360"/>
            <a:ext cx="1725107" cy="594360"/>
          </a:xfrm>
          <a:prstGeom prst="roundRect">
            <a:avLst>
              <a:gd name="adj" fmla="val 12308"/>
            </a:avLst>
          </a:prstGeom>
          <a:solidFill>
            <a:srgbClr val="E5F7EC"/>
          </a:solidFill>
          <a:ln w="9525">
            <a:solidFill>
              <a:srgbClr val="E5F7EC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6111118" y="5294376"/>
            <a:ext cx="1432499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73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Tempor incididunt ut labore.</a:t>
            </a:r>
            <a:endParaRPr lang="en-US" sz="1150" dirty="0"/>
          </a:p>
        </p:txBody>
      </p:sp>
      <p:sp>
        <p:nvSpPr>
          <p:cNvPr id="67" name="Shape 65"/>
          <p:cNvSpPr/>
          <p:nvPr/>
        </p:nvSpPr>
        <p:spPr>
          <a:xfrm>
            <a:off x="7872801" y="5166360"/>
            <a:ext cx="1725107" cy="594360"/>
          </a:xfrm>
          <a:prstGeom prst="roundRect">
            <a:avLst>
              <a:gd name="adj" fmla="val 12308"/>
            </a:avLst>
          </a:prstGeom>
          <a:solidFill>
            <a:srgbClr val="E5F7EC"/>
          </a:solidFill>
          <a:ln w="9525">
            <a:solidFill>
              <a:srgbClr val="E5F7EC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8019105" y="5294376"/>
            <a:ext cx="1432499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73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Aliqua ut enim ad.</a:t>
            </a:r>
            <a:endParaRPr lang="en-US" sz="1150" dirty="0"/>
          </a:p>
        </p:txBody>
      </p:sp>
      <p:sp>
        <p:nvSpPr>
          <p:cNvPr id="69" name="Shape 67"/>
          <p:cNvSpPr/>
          <p:nvPr/>
        </p:nvSpPr>
        <p:spPr>
          <a:xfrm>
            <a:off x="9780788" y="5166360"/>
            <a:ext cx="1725107" cy="594360"/>
          </a:xfrm>
          <a:prstGeom prst="roundRect">
            <a:avLst>
              <a:gd name="adj" fmla="val 12308"/>
            </a:avLst>
          </a:prstGeom>
          <a:solidFill>
            <a:srgbClr val="E5F7EC"/>
          </a:solidFill>
          <a:ln w="9525">
            <a:solidFill>
              <a:srgbClr val="E5F7EC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9927092" y="5294376"/>
            <a:ext cx="1432499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73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Nostrud exercitation ullamco laboris.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0292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4AE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KEY TOUCHPOINTS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222731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Ex ea commodo consequat duis aute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640080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[Project name] · Campaign / Concept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937760" y="6400800"/>
            <a:ext cx="57908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SLD-MESSAGING-01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865815" y="640080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09 / 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214055" y="475488"/>
            <a:ext cx="3291840" cy="310896"/>
          </a:xfrm>
          <a:prstGeom prst="roundRect">
            <a:avLst>
              <a:gd name="adj" fmla="val 23529"/>
            </a:avLst>
          </a:prstGeom>
          <a:solidFill>
            <a:srgbClr val="FFF0E5"/>
          </a:solidFill>
          <a:ln w="9525">
            <a:solidFill>
              <a:srgbClr val="FFF0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14055" y="47548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846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Restricted pattern · approval needed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1426997" y="1780346"/>
            <a:ext cx="1835359" cy="3891261"/>
          </a:xfrm>
          <a:prstGeom prst="roundRect">
            <a:avLst>
              <a:gd name="adj" fmla="val 14000"/>
            </a:avLst>
          </a:prstGeom>
          <a:solidFill>
            <a:srgbClr val="ECECEA"/>
          </a:solidFill>
          <a:ln w="9525">
            <a:solidFill>
              <a:srgbClr val="ECEC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518437" y="3451657"/>
            <a:ext cx="16524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2273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Message mockup</a:t>
            </a:r>
            <a:endParaRPr lang="en-US" sz="13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Screenshot goes here</a:t>
            </a:r>
            <a:endParaRPr lang="en-US" sz="135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5880" y="1691640"/>
            <a:ext cx="2034540" cy="406908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4366260" y="1691640"/>
            <a:ext cx="71396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0075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SMS · T–30 DAYS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366260" y="2194560"/>
            <a:ext cx="329184" cy="329184"/>
          </a:xfrm>
          <a:prstGeom prst="ellipse">
            <a:avLst/>
          </a:prstGeom>
          <a:solidFill>
            <a:srgbClr val="000075"/>
          </a:solidFill>
          <a:ln w="12700">
            <a:solidFill>
              <a:srgbClr val="00007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366260" y="2194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4878324" y="2176272"/>
            <a:ext cx="66275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22731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Labore et dolore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4878324" y="2523744"/>
            <a:ext cx="662757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Deserunt mollit anim id est laborum curabitur pretium tincidunt lacus nulla gravida.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4366260" y="3383280"/>
            <a:ext cx="329184" cy="329184"/>
          </a:xfrm>
          <a:prstGeom prst="ellipse">
            <a:avLst/>
          </a:prstGeom>
          <a:solidFill>
            <a:srgbClr val="000075"/>
          </a:solidFill>
          <a:ln w="12700">
            <a:solidFill>
              <a:srgbClr val="000075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366260" y="33832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4878324" y="3364992"/>
            <a:ext cx="66275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22731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Fugiat nulla pariatur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4878324" y="3712464"/>
            <a:ext cx="662757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Amet consectetur adipiscing elit sed do eiusmod tempor incididunt ut labore et.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4366260" y="4572000"/>
            <a:ext cx="329184" cy="329184"/>
          </a:xfrm>
          <a:prstGeom prst="ellipse">
            <a:avLst/>
          </a:prstGeom>
          <a:solidFill>
            <a:srgbClr val="000075"/>
          </a:solidFill>
          <a:ln w="12700">
            <a:solidFill>
              <a:srgbClr val="000075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366260" y="4572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4878324" y="4553712"/>
            <a:ext cx="66275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22731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Est eros bibendum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4878324" y="4901184"/>
            <a:ext cx="662757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Cillum dolore eu fugiat nulla pariatur excepteur sint occaecat cupidatat non proident.</a:t>
            </a:r>
            <a:endParaRPr lang="en-US" sz="1350" dirty="0"/>
          </a:p>
        </p:txBody>
      </p:sp>
      <p:sp>
        <p:nvSpPr>
          <p:cNvPr id="25" name="Text 22"/>
          <p:cNvSpPr txBox="1"/>
          <p:nvPr/>
        </p:nvSpPr>
        <p:spPr>
          <a:xfrm>
            <a:off x="4366260" y="5989320"/>
            <a:ext cx="71396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Message copy comes from the owner. Uses MSG-SMS-01 (proposed), which needs approval for each deck.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0292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4AE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CREATIVE DIRECTION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222731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Sint occaecat cupidatat non proident sunt in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640080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[Project name] · Campaign / Concept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937760" y="6400800"/>
            <a:ext cx="57908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SLD-DEVICE-TRIO-01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865815" y="640080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10 / 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996033" y="2667835"/>
            <a:ext cx="1278564" cy="2710766"/>
          </a:xfrm>
          <a:prstGeom prst="roundRect">
            <a:avLst>
              <a:gd name="adj" fmla="val 14000"/>
            </a:avLst>
          </a:prstGeom>
          <a:solidFill>
            <a:srgbClr val="ECECEA"/>
          </a:solidFill>
          <a:ln w="9525">
            <a:solidFill>
              <a:srgbClr val="ECEC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87473" y="3748898"/>
            <a:ext cx="10956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2273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Phone</a:t>
            </a:r>
            <a:endParaRPr lang="en-US" sz="13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Screenshot goes here</a:t>
            </a:r>
            <a:endParaRPr lang="en-US" sz="135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5592" y="2606040"/>
            <a:ext cx="1417320" cy="28346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2952277" y="2256483"/>
            <a:ext cx="2308241" cy="3079187"/>
          </a:xfrm>
          <a:prstGeom prst="roundRect">
            <a:avLst>
              <a:gd name="adj" fmla="val 11884"/>
            </a:avLst>
          </a:prstGeom>
          <a:solidFill>
            <a:srgbClr val="ECECEA"/>
          </a:solidFill>
          <a:ln w="9525">
            <a:solidFill>
              <a:srgbClr val="ECECE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043717" y="3521757"/>
            <a:ext cx="212536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2273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Tablet</a:t>
            </a:r>
            <a:endParaRPr lang="en-US" sz="13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Screenshot goes here</a:t>
            </a:r>
            <a:endParaRPr lang="en-US" sz="135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5832" y="2148840"/>
            <a:ext cx="2522392" cy="329184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534723" y="2577288"/>
            <a:ext cx="4073195" cy="2558174"/>
          </a:xfrm>
          <a:prstGeom prst="roundRect">
            <a:avLst>
              <a:gd name="adj" fmla="val 1430"/>
            </a:avLst>
          </a:prstGeom>
          <a:solidFill>
            <a:srgbClr val="ECECEA"/>
          </a:solidFill>
          <a:ln w="9525">
            <a:solidFill>
              <a:srgbClr val="ECECEA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626163" y="3582055"/>
            <a:ext cx="38903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2273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Laptop</a:t>
            </a:r>
            <a:endParaRPr lang="en-US" sz="13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Screenshot goes here</a:t>
            </a:r>
            <a:endParaRPr lang="en-US" sz="135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1143" y="2400663"/>
            <a:ext cx="5394960" cy="304001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25592" y="555040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Phone</a:t>
            </a:r>
            <a:endParaRPr lang="en-US" sz="1050" dirty="0"/>
          </a:p>
        </p:txBody>
      </p:sp>
      <p:sp>
        <p:nvSpPr>
          <p:cNvPr id="17" name="Text 12"/>
          <p:cNvSpPr txBox="1"/>
          <p:nvPr/>
        </p:nvSpPr>
        <p:spPr>
          <a:xfrm>
            <a:off x="2845832" y="5550408"/>
            <a:ext cx="2522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Tablet</a:t>
            </a:r>
            <a:endParaRPr lang="en-US" sz="1050" dirty="0"/>
          </a:p>
        </p:txBody>
      </p:sp>
      <p:sp>
        <p:nvSpPr>
          <p:cNvPr id="18" name="Text 13"/>
          <p:cNvSpPr txBox="1"/>
          <p:nvPr/>
        </p:nvSpPr>
        <p:spPr>
          <a:xfrm>
            <a:off x="5871143" y="5550408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Laptop</a:t>
            </a:r>
            <a:endParaRPr lang="en-US" sz="1050" dirty="0"/>
          </a:p>
        </p:txBody>
      </p:sp>
      <p:sp>
        <p:nvSpPr>
          <p:cNvPr id="19" name="Text 14"/>
          <p:cNvSpPr txBox="1"/>
          <p:nvPr/>
        </p:nvSpPr>
        <p:spPr>
          <a:xfrm>
            <a:off x="685800" y="59893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Est eros bibendum elit nec luctus magna felis sollicitudin mauris integer in mauris eu.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0292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4AE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SUPPORTING EVIDENCE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222731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Gravida orci a odio nullam varius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640080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[Project name] · Campaign / Concept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937760" y="6400800"/>
            <a:ext cx="57908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SLD-2COL-01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865815" y="640080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11 / 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5272888" cy="4069080"/>
          </a:xfrm>
          <a:prstGeom prst="roundRect">
            <a:avLst>
              <a:gd name="adj" fmla="val 2697"/>
            </a:avLst>
          </a:prstGeom>
          <a:solidFill>
            <a:srgbClr val="FFFFFF"/>
          </a:solidFill>
          <a:ln w="9525">
            <a:solidFill>
              <a:srgbClr val="D9D9D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057400"/>
            <a:ext cx="4541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MESSAGE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423160"/>
            <a:ext cx="45413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22731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Fugiat nulla pariatur excepteur sint occaecat cupidatat non proident sunt.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3611880"/>
            <a:ext cx="454136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Amet consectetur adipiscing elit sed do eiusmod tempor incididunt ut labore et dolore magna aliqua ut enim ad minim veniam quis nostrud exercitation ullamco laboris nisi.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233008" y="1691640"/>
            <a:ext cx="5272888" cy="4069080"/>
          </a:xfrm>
          <a:prstGeom prst="roundRect">
            <a:avLst>
              <a:gd name="adj" fmla="val 2697"/>
            </a:avLst>
          </a:prstGeom>
          <a:solidFill>
            <a:srgbClr val="FFFFFF"/>
          </a:solidFill>
          <a:ln w="9525">
            <a:solidFill>
              <a:srgbClr val="D9D9D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98768" y="2057400"/>
            <a:ext cx="4541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EVIDENCE</a:t>
            </a:r>
            <a:endParaRPr lang="en-US" sz="105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6461608" y="2423160"/>
          <a:ext cx="4815688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Text 11"/>
          <p:cNvSpPr txBox="1"/>
          <p:nvPr/>
        </p:nvSpPr>
        <p:spPr>
          <a:xfrm>
            <a:off x="6598768" y="5166360"/>
            <a:ext cx="4541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Source: [placeholder] · method · n = 1,200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0292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4AE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EXPECTED IMPACT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222731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In mauris eu nibh euismod gravida lorem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640080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[Project name] · Campaign / Concept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937760" y="6400800"/>
            <a:ext cx="57908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SLD-KPI-GRID-01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865815" y="640080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12 / 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2499284" cy="269748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9525">
            <a:solidFill>
              <a:srgbClr val="D9D9D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057400"/>
            <a:ext cx="17677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Lorem ipsum rate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514600"/>
            <a:ext cx="17677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4AED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46%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1051560" y="3383280"/>
            <a:ext cx="1737360" cy="347472"/>
          </a:xfrm>
          <a:prstGeom prst="roundRect">
            <a:avLst>
              <a:gd name="adj" fmla="val 21053"/>
            </a:avLst>
          </a:prstGeom>
          <a:solidFill>
            <a:srgbClr val="E5F7EC"/>
          </a:solidFill>
          <a:ln w="9525">
            <a:solidFill>
              <a:srgbClr val="E5F7EC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3447288"/>
            <a:ext cx="219456" cy="219456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435608" y="3383280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7A2C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Up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1051560" y="3867912"/>
            <a:ext cx="17677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34% → 46% vs baseline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3459404" y="1691640"/>
            <a:ext cx="2499284" cy="269748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9525">
            <a:solidFill>
              <a:srgbClr val="D9D9D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825164" y="2057400"/>
            <a:ext cx="17677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Dolor sit time</a:t>
            </a:r>
            <a:endParaRPr lang="en-US" sz="1350" dirty="0"/>
          </a:p>
        </p:txBody>
      </p:sp>
      <p:sp>
        <p:nvSpPr>
          <p:cNvPr id="16" name="Text 13"/>
          <p:cNvSpPr txBox="1"/>
          <p:nvPr/>
        </p:nvSpPr>
        <p:spPr>
          <a:xfrm>
            <a:off x="3825164" y="2514600"/>
            <a:ext cx="17677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4AED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–18 days</a:t>
            </a:r>
            <a:endParaRPr lang="en-US" sz="2600" dirty="0"/>
          </a:p>
        </p:txBody>
      </p:sp>
      <p:sp>
        <p:nvSpPr>
          <p:cNvPr id="17" name="Shape 14"/>
          <p:cNvSpPr/>
          <p:nvPr/>
        </p:nvSpPr>
        <p:spPr>
          <a:xfrm>
            <a:off x="3825164" y="3383280"/>
            <a:ext cx="1737360" cy="347472"/>
          </a:xfrm>
          <a:prstGeom prst="roundRect">
            <a:avLst>
              <a:gd name="adj" fmla="val 21053"/>
            </a:avLst>
          </a:prstGeom>
          <a:solidFill>
            <a:srgbClr val="E5F7EC"/>
          </a:solidFill>
          <a:ln w="9525">
            <a:solidFill>
              <a:srgbClr val="E5F7EC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6604" y="3447288"/>
            <a:ext cx="219456" cy="219456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4209212" y="3383280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7A2C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Down (better)</a:t>
            </a:r>
            <a:endParaRPr lang="en-US" sz="1050" dirty="0"/>
          </a:p>
        </p:txBody>
      </p:sp>
      <p:sp>
        <p:nvSpPr>
          <p:cNvPr id="20" name="Text 16"/>
          <p:cNvSpPr txBox="1"/>
          <p:nvPr/>
        </p:nvSpPr>
        <p:spPr>
          <a:xfrm>
            <a:off x="3825164" y="3867912"/>
            <a:ext cx="17677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41 → 23 days, median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6233008" y="1691640"/>
            <a:ext cx="2499284" cy="269748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9525">
            <a:solidFill>
              <a:srgbClr val="D9D9D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598768" y="2057400"/>
            <a:ext cx="17677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Amet steps</a:t>
            </a:r>
            <a:endParaRPr lang="en-US" sz="1350" dirty="0"/>
          </a:p>
        </p:txBody>
      </p:sp>
      <p:sp>
        <p:nvSpPr>
          <p:cNvPr id="23" name="Text 19"/>
          <p:cNvSpPr txBox="1"/>
          <p:nvPr/>
        </p:nvSpPr>
        <p:spPr>
          <a:xfrm>
            <a:off x="6598768" y="2514600"/>
            <a:ext cx="17677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4AED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5 → 2</a:t>
            </a:r>
            <a:endParaRPr lang="en-US" sz="2600" dirty="0"/>
          </a:p>
        </p:txBody>
      </p:sp>
      <p:sp>
        <p:nvSpPr>
          <p:cNvPr id="24" name="Shape 20"/>
          <p:cNvSpPr/>
          <p:nvPr/>
        </p:nvSpPr>
        <p:spPr>
          <a:xfrm>
            <a:off x="6598768" y="3383280"/>
            <a:ext cx="1737360" cy="347472"/>
          </a:xfrm>
          <a:prstGeom prst="roundRect">
            <a:avLst>
              <a:gd name="adj" fmla="val 21053"/>
            </a:avLst>
          </a:prstGeom>
          <a:solidFill>
            <a:srgbClr val="E5F7EC"/>
          </a:solidFill>
          <a:ln w="9525">
            <a:solidFill>
              <a:srgbClr val="E5F7EC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0208" y="3447288"/>
            <a:ext cx="219456" cy="219456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6982816" y="3383280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7A2C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Down (better)</a:t>
            </a:r>
            <a:endParaRPr lang="en-US" sz="1050" dirty="0"/>
          </a:p>
        </p:txBody>
      </p:sp>
      <p:sp>
        <p:nvSpPr>
          <p:cNvPr id="27" name="Text 22"/>
          <p:cNvSpPr txBox="1"/>
          <p:nvPr/>
        </p:nvSpPr>
        <p:spPr>
          <a:xfrm>
            <a:off x="6598768" y="3867912"/>
            <a:ext cx="17677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Consectetur adipiscing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9006611" y="1691640"/>
            <a:ext cx="2499284" cy="269748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9525">
            <a:solidFill>
              <a:srgbClr val="D9D9D6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9372371" y="2057400"/>
            <a:ext cx="17677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Elit satisfaction</a:t>
            </a:r>
            <a:endParaRPr lang="en-US" sz="1350" dirty="0"/>
          </a:p>
        </p:txBody>
      </p:sp>
      <p:sp>
        <p:nvSpPr>
          <p:cNvPr id="30" name="Text 25"/>
          <p:cNvSpPr txBox="1"/>
          <p:nvPr/>
        </p:nvSpPr>
        <p:spPr>
          <a:xfrm>
            <a:off x="9372371" y="2514600"/>
            <a:ext cx="17677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4AED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4.5</a:t>
            </a:r>
            <a:endParaRPr lang="en-US" sz="2600" dirty="0"/>
          </a:p>
        </p:txBody>
      </p:sp>
      <p:sp>
        <p:nvSpPr>
          <p:cNvPr id="31" name="Shape 26"/>
          <p:cNvSpPr/>
          <p:nvPr/>
        </p:nvSpPr>
        <p:spPr>
          <a:xfrm>
            <a:off x="9372371" y="3383280"/>
            <a:ext cx="1737360" cy="347472"/>
          </a:xfrm>
          <a:prstGeom prst="roundRect">
            <a:avLst>
              <a:gd name="adj" fmla="val 21053"/>
            </a:avLst>
          </a:prstGeom>
          <a:solidFill>
            <a:srgbClr val="E5F7EC"/>
          </a:solidFill>
          <a:ln w="9525">
            <a:solidFill>
              <a:srgbClr val="E5F7EC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3811" y="3447288"/>
            <a:ext cx="219456" cy="219456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9756419" y="3383280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7A2C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Up</a:t>
            </a:r>
            <a:endParaRPr lang="en-US" sz="1050" dirty="0"/>
          </a:p>
        </p:txBody>
      </p:sp>
      <p:sp>
        <p:nvSpPr>
          <p:cNvPr id="34" name="Text 28"/>
          <p:cNvSpPr txBox="1"/>
          <p:nvPr/>
        </p:nvSpPr>
        <p:spPr>
          <a:xfrm>
            <a:off x="9372371" y="3867912"/>
            <a:ext cx="17677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3.9 → 4.5 out of 5</a:t>
            </a:r>
            <a:endParaRPr lang="en-US" sz="1150" dirty="0"/>
          </a:p>
        </p:txBody>
      </p:sp>
      <p:sp>
        <p:nvSpPr>
          <p:cNvPr id="35" name="Shape 29"/>
          <p:cNvSpPr/>
          <p:nvPr/>
        </p:nvSpPr>
        <p:spPr>
          <a:xfrm>
            <a:off x="685800" y="4663440"/>
            <a:ext cx="10820095" cy="1005840"/>
          </a:xfrm>
          <a:prstGeom prst="roundRect">
            <a:avLst>
              <a:gd name="adj" fmla="val 10909"/>
            </a:avLst>
          </a:prstGeom>
          <a:solidFill>
            <a:srgbClr val="ECECEA"/>
          </a:solidFill>
          <a:ln w="9525">
            <a:solidFill>
              <a:srgbClr val="ECECEA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1051560" y="4663440"/>
            <a:ext cx="100885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273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How we'll measure  </a:t>
            </a:r>
            <a:pPr indent="0" marL="0">
              <a:buNone/>
            </a:pPr>
            <a:r>
              <a:rPr lang="en-US" sz="13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Nibh euismod gravida lorem ipsum dolor sit amet consectetur adipiscing elit sed do eiusmod tempor incididunt ut labore.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0292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4AE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NEXT STEPS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222731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Et dolore magna aliqua ut enim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640080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[Project name] · Campaign / Concept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937760" y="6400800"/>
            <a:ext cx="57908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SLD-NEXT-STEPS-01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865815" y="640080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13 / 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3291840" cy="4069080"/>
          </a:xfrm>
          <a:prstGeom prst="roundRect">
            <a:avLst>
              <a:gd name="adj" fmla="val 3333"/>
            </a:avLst>
          </a:prstGeom>
          <a:solidFill>
            <a:srgbClr val="000075"/>
          </a:solidFill>
          <a:ln w="9525">
            <a:solidFill>
              <a:srgbClr val="00007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51560" y="2057400"/>
            <a:ext cx="1828800" cy="365760"/>
          </a:xfrm>
          <a:prstGeom prst="roundRect">
            <a:avLst>
              <a:gd name="adj" fmla="val 20000"/>
            </a:avLst>
          </a:prstGeom>
          <a:solidFill>
            <a:srgbClr val="D6DBFC"/>
          </a:solidFill>
          <a:ln w="9525">
            <a:solidFill>
              <a:srgbClr val="D6DBF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51560" y="20574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0075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Decision needed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2651760"/>
            <a:ext cx="2560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Consequat duis aute irure dolor in reprehenderit.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420624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D6DBFC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Scope: [lorem ipsum]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D6DBFC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Owner: [role]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D6DBFC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Resources: [dolor sit]</a:t>
            </a:r>
            <a:endParaRPr lang="en-US" sz="13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51960" y="1691640"/>
          <a:ext cx="7253935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322015"/>
                <a:gridCol w="1920240"/>
                <a:gridCol w="11887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3666A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STEP</a:t>
                      </a:r>
                      <a:endParaRPr lang="en-US" sz="10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182880" marR="182880" marT="0" marB="0" anchor="ctr">
                    <a:lnL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3666A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ACTION</a:t>
                      </a:r>
                      <a:endParaRPr lang="en-US" sz="10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182880" marR="182880" marT="0" marB="0" anchor="ctr">
                    <a:lnL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3666A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OWNER</a:t>
                      </a:r>
                      <a:endParaRPr lang="en-US" sz="10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182880" marR="182880" marT="0" marB="0" anchor="ctr">
                    <a:lnL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3666A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DATE</a:t>
                      </a:r>
                      <a:endParaRPr lang="en-US" sz="10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182880" marR="182880" marT="0" marB="0" anchor="ctr">
                    <a:lnL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EA"/>
                    </a:solidFill>
                  </a:tcPr>
                </a:tc>
              </a:tr>
              <a:tr h="7223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E4AE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1</a:t>
                      </a:r>
                      <a:endParaRPr lang="en-US" sz="13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182880" marR="182880" marT="0" marB="0" anchor="ctr">
                    <a:lnL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22731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Ad minim veniam quis</a:t>
                      </a:r>
                      <a:endParaRPr lang="en-US" sz="13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182880" marR="182880" marT="0" marB="0" anchor="ctr">
                    <a:lnL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22731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Leadership</a:t>
                      </a:r>
                      <a:endParaRPr lang="en-US" sz="13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182880" marR="182880" marT="0" marB="0" anchor="ctr">
                    <a:lnL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22731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Oct 2026</a:t>
                      </a:r>
                      <a:endParaRPr lang="en-US" sz="13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182880" marR="182880" marT="0" marB="0" anchor="ctr">
                    <a:lnL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223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E4AE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2</a:t>
                      </a:r>
                      <a:endParaRPr lang="en-US" sz="13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182880" marR="182880" marT="0" marB="0" anchor="ctr">
                    <a:lnL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22731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Fugiat nulla pariatur excepteur</a:t>
                      </a:r>
                      <a:endParaRPr lang="en-US" sz="13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182880" marR="182880" marT="0" marB="0" anchor="ctr">
                    <a:lnL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22731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CX · Design</a:t>
                      </a:r>
                      <a:endParaRPr lang="en-US" sz="13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182880" marR="182880" marT="0" marB="0" anchor="ctr">
                    <a:lnL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22731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Nov 2026</a:t>
                      </a:r>
                      <a:endParaRPr lang="en-US" sz="13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182880" marR="182880" marT="0" marB="0" anchor="ctr">
                    <a:lnL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223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E4AE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3</a:t>
                      </a:r>
                      <a:endParaRPr lang="en-US" sz="13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182880" marR="182880" marT="0" marB="0" anchor="ctr">
                    <a:lnL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22731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Odio nullam varius turpis</a:t>
                      </a:r>
                      <a:endParaRPr lang="en-US" sz="13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182880" marR="182880" marT="0" marB="0" anchor="ctr">
                    <a:lnL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22731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Product · Eng</a:t>
                      </a:r>
                      <a:endParaRPr lang="en-US" sz="13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182880" marR="182880" marT="0" marB="0" anchor="ctr">
                    <a:lnL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22731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Dec 2026</a:t>
                      </a:r>
                      <a:endParaRPr lang="en-US" sz="13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182880" marR="182880" marT="0" marB="0" anchor="ctr">
                    <a:lnL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223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E4AE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4</a:t>
                      </a:r>
                      <a:endParaRPr lang="en-US" sz="13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182880" marR="182880" marT="0" marB="0" anchor="ctr">
                    <a:lnL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22731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Amet consectetur adipiscing elit</a:t>
                      </a:r>
                      <a:endParaRPr lang="en-US" sz="13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182880" marR="182880" marT="0" marB="0" anchor="ctr">
                    <a:lnL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22731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CX · Ops</a:t>
                      </a:r>
                      <a:endParaRPr lang="en-US" sz="13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182880" marR="182880" marT="0" marB="0" anchor="ctr">
                    <a:lnL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22731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Jan 2027</a:t>
                      </a:r>
                      <a:endParaRPr lang="en-US" sz="13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182880" marR="182880" marT="0" marB="0" anchor="ctr">
                    <a:lnL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223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E4AE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5</a:t>
                      </a:r>
                      <a:endParaRPr lang="en-US" sz="13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182880" marR="182880" marT="0" marB="0" anchor="ctr">
                    <a:lnL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22731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Ex ea commodo consequat</a:t>
                      </a:r>
                      <a:endParaRPr lang="en-US" sz="13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182880" marR="182880" marT="0" marB="0" anchor="ctr">
                    <a:lnL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22731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Analytics</a:t>
                      </a:r>
                      <a:endParaRPr lang="en-US" sz="13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182880" marR="182880" marT="0" marB="0" anchor="ctr">
                    <a:lnL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22731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Mar 2027</a:t>
                      </a:r>
                      <a:endParaRPr lang="en-US" sz="13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182880" marR="182880" marT="0" marB="0" anchor="ctr">
                    <a:lnL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Campaign / Concept — template</dc:title>
  <dc:subject>PptxGenJS Presentation</dc:subject>
  <dc:creator>Storyloom AI</dc:creator>
  <cp:lastModifiedBy>Storyloom AI</cp:lastModifiedBy>
  <cp:revision>1</cp:revision>
  <dcterms:created xsi:type="dcterms:W3CDTF">2026-10-02T19:22:54Z</dcterms:created>
  <dcterms:modified xsi:type="dcterms:W3CDTF">2026-10-02T19:22:54Z</dcterms:modified>
</cp:coreProperties>
</file>